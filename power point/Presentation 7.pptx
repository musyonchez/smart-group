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F94DDF-1B28-F7D8-BC4E-B50F9D261664}" v="337" dt="2026-03-10T21:47:47.8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7E83C4-06E6-4B28-A21E-DB98340E210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D9647F7-09A9-42CC-98AC-B92C302DE2EE}">
      <dgm:prSet/>
      <dgm:spPr/>
      <dgm:t>
        <a:bodyPr/>
        <a:lstStyle/>
        <a:p>
          <a:r>
            <a:rPr lang="en-US"/>
            <a:t>Automatically matches students into study groups</a:t>
          </a:r>
        </a:p>
      </dgm:t>
    </dgm:pt>
    <dgm:pt modelId="{26C09D2C-F094-46EB-B51B-C0528A288026}" type="parTrans" cxnId="{9CCC5780-4B28-494C-83A0-75D2F0F03764}">
      <dgm:prSet/>
      <dgm:spPr/>
      <dgm:t>
        <a:bodyPr/>
        <a:lstStyle/>
        <a:p>
          <a:endParaRPr lang="en-US"/>
        </a:p>
      </dgm:t>
    </dgm:pt>
    <dgm:pt modelId="{DB041664-54E1-48BD-8CFC-E6F55996D4CB}" type="sibTrans" cxnId="{9CCC5780-4B28-494C-83A0-75D2F0F03764}">
      <dgm:prSet/>
      <dgm:spPr/>
      <dgm:t>
        <a:bodyPr/>
        <a:lstStyle/>
        <a:p>
          <a:endParaRPr lang="en-US"/>
        </a:p>
      </dgm:t>
    </dgm:pt>
    <dgm:pt modelId="{ABA4AB69-9137-417A-8530-6FA1D6EFBA3E}">
      <dgm:prSet/>
      <dgm:spPr/>
      <dgm:t>
        <a:bodyPr/>
        <a:lstStyle/>
        <a:p>
          <a:r>
            <a:rPr lang="en-US"/>
            <a:t>Matching criteria: shared course + topic difficulty + available time slots</a:t>
          </a:r>
        </a:p>
      </dgm:t>
    </dgm:pt>
    <dgm:pt modelId="{3FB3FD4B-4EB8-4444-82FA-8F3E90890577}" type="parTrans" cxnId="{A5778E02-F6C8-4C2F-A4E8-44AC22EBE260}">
      <dgm:prSet/>
      <dgm:spPr/>
      <dgm:t>
        <a:bodyPr/>
        <a:lstStyle/>
        <a:p>
          <a:endParaRPr lang="en-US"/>
        </a:p>
      </dgm:t>
    </dgm:pt>
    <dgm:pt modelId="{9E138A41-A9E5-4E28-8F9B-AB2644923303}" type="sibTrans" cxnId="{A5778E02-F6C8-4C2F-A4E8-44AC22EBE260}">
      <dgm:prSet/>
      <dgm:spPr/>
      <dgm:t>
        <a:bodyPr/>
        <a:lstStyle/>
        <a:p>
          <a:endParaRPr lang="en-US"/>
        </a:p>
      </dgm:t>
    </dgm:pt>
    <dgm:pt modelId="{E070B282-F38A-40BB-961C-51D4A7085AED}">
      <dgm:prSet/>
      <dgm:spPr/>
      <dgm:t>
        <a:bodyPr/>
        <a:lstStyle/>
        <a:p>
          <a:r>
            <a:rPr lang="en-US"/>
            <a:t>Key constraints: no student in two groups at the same time, handles odd student counts</a:t>
          </a:r>
        </a:p>
      </dgm:t>
    </dgm:pt>
    <dgm:pt modelId="{F06E9DBC-7869-4C00-AADE-23B2409A2BB0}" type="parTrans" cxnId="{97179B95-8CD1-4309-87AC-1960DA2FE81A}">
      <dgm:prSet/>
      <dgm:spPr/>
      <dgm:t>
        <a:bodyPr/>
        <a:lstStyle/>
        <a:p>
          <a:endParaRPr lang="en-US"/>
        </a:p>
      </dgm:t>
    </dgm:pt>
    <dgm:pt modelId="{36D16563-D49F-4451-8F12-2A7347AA0D77}" type="sibTrans" cxnId="{97179B95-8CD1-4309-87AC-1960DA2FE81A}">
      <dgm:prSet/>
      <dgm:spPr/>
      <dgm:t>
        <a:bodyPr/>
        <a:lstStyle/>
        <a:p>
          <a:endParaRPr lang="en-US"/>
        </a:p>
      </dgm:t>
    </dgm:pt>
    <dgm:pt modelId="{DCA9321E-A524-4758-B78A-D07C3B73E320}">
      <dgm:prSet/>
      <dgm:spPr/>
      <dgm:t>
        <a:bodyPr/>
        <a:lstStyle/>
        <a:p>
          <a:r>
            <a:rPr lang="en-US"/>
            <a:t>Built in Python; 42 automated tests written and passing</a:t>
          </a:r>
        </a:p>
      </dgm:t>
    </dgm:pt>
    <dgm:pt modelId="{0EECB32F-33FB-4476-86D0-3678C92C61AE}" type="parTrans" cxnId="{FBFB21E7-A069-4BCA-9EEF-855ED6351F5C}">
      <dgm:prSet/>
      <dgm:spPr/>
      <dgm:t>
        <a:bodyPr/>
        <a:lstStyle/>
        <a:p>
          <a:endParaRPr lang="en-US"/>
        </a:p>
      </dgm:t>
    </dgm:pt>
    <dgm:pt modelId="{856D333A-9092-4293-82CD-1D8B5BE5949F}" type="sibTrans" cxnId="{FBFB21E7-A069-4BCA-9EEF-855ED6351F5C}">
      <dgm:prSet/>
      <dgm:spPr/>
      <dgm:t>
        <a:bodyPr/>
        <a:lstStyle/>
        <a:p>
          <a:endParaRPr lang="en-US"/>
        </a:p>
      </dgm:t>
    </dgm:pt>
    <dgm:pt modelId="{5CD8570E-AA76-45D8-90E4-54146CC7F4C7}">
      <dgm:prSet/>
      <dgm:spPr/>
      <dgm:t>
        <a:bodyPr/>
        <a:lstStyle/>
        <a:p>
          <a:r>
            <a:rPr lang="en-US"/>
            <a:t>[Student Registers] → [Matching Engine] → [Group Assigned]</a:t>
          </a:r>
        </a:p>
      </dgm:t>
    </dgm:pt>
    <dgm:pt modelId="{63CBE98F-60B2-4718-B97E-C08FB2E6FA65}" type="parTrans" cxnId="{8137E033-2BF3-48D8-AD23-43487A72AA72}">
      <dgm:prSet/>
      <dgm:spPr/>
      <dgm:t>
        <a:bodyPr/>
        <a:lstStyle/>
        <a:p>
          <a:endParaRPr lang="en-US"/>
        </a:p>
      </dgm:t>
    </dgm:pt>
    <dgm:pt modelId="{500D7CC6-3171-44E5-8502-073BA359FDB0}" type="sibTrans" cxnId="{8137E033-2BF3-48D8-AD23-43487A72AA72}">
      <dgm:prSet/>
      <dgm:spPr/>
      <dgm:t>
        <a:bodyPr/>
        <a:lstStyle/>
        <a:p>
          <a:endParaRPr lang="en-US"/>
        </a:p>
      </dgm:t>
    </dgm:pt>
    <dgm:pt modelId="{890FE421-1266-4A89-BFB7-0B8EBCB38572}" type="pres">
      <dgm:prSet presAssocID="{377E83C4-06E6-4B28-A21E-DB98340E210B}" presName="root" presStyleCnt="0">
        <dgm:presLayoutVars>
          <dgm:dir/>
          <dgm:resizeHandles val="exact"/>
        </dgm:presLayoutVars>
      </dgm:prSet>
      <dgm:spPr/>
    </dgm:pt>
    <dgm:pt modelId="{0990C102-EB55-4B1A-B057-5EB256B4500E}" type="pres">
      <dgm:prSet presAssocID="{BD9647F7-09A9-42CC-98AC-B92C302DE2EE}" presName="compNode" presStyleCnt="0"/>
      <dgm:spPr/>
    </dgm:pt>
    <dgm:pt modelId="{632C2F3E-0758-4EB4-B6CA-2764EDC48538}" type="pres">
      <dgm:prSet presAssocID="{BD9647F7-09A9-42CC-98AC-B92C302DE2EE}" presName="bgRect" presStyleLbl="bgShp" presStyleIdx="0" presStyleCnt="5"/>
      <dgm:spPr/>
    </dgm:pt>
    <dgm:pt modelId="{5C28A389-D67F-4A5D-80FF-3FA11417792E}" type="pres">
      <dgm:prSet presAssocID="{BD9647F7-09A9-42CC-98AC-B92C302DE2E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1246C246-B5ED-42AE-819A-2A204521BAF6}" type="pres">
      <dgm:prSet presAssocID="{BD9647F7-09A9-42CC-98AC-B92C302DE2EE}" presName="spaceRect" presStyleCnt="0"/>
      <dgm:spPr/>
    </dgm:pt>
    <dgm:pt modelId="{18D1F2E1-2A6D-4596-92F1-B5A43D61782C}" type="pres">
      <dgm:prSet presAssocID="{BD9647F7-09A9-42CC-98AC-B92C302DE2EE}" presName="parTx" presStyleLbl="revTx" presStyleIdx="0" presStyleCnt="5">
        <dgm:presLayoutVars>
          <dgm:chMax val="0"/>
          <dgm:chPref val="0"/>
        </dgm:presLayoutVars>
      </dgm:prSet>
      <dgm:spPr/>
    </dgm:pt>
    <dgm:pt modelId="{BCB8F282-512B-47A0-907D-398418C5EC2A}" type="pres">
      <dgm:prSet presAssocID="{DB041664-54E1-48BD-8CFC-E6F55996D4CB}" presName="sibTrans" presStyleCnt="0"/>
      <dgm:spPr/>
    </dgm:pt>
    <dgm:pt modelId="{256CF130-4BB6-48D1-8A93-0E0A304CA16F}" type="pres">
      <dgm:prSet presAssocID="{ABA4AB69-9137-417A-8530-6FA1D6EFBA3E}" presName="compNode" presStyleCnt="0"/>
      <dgm:spPr/>
    </dgm:pt>
    <dgm:pt modelId="{A6540310-3779-4CAF-9072-D782BC63F5F8}" type="pres">
      <dgm:prSet presAssocID="{ABA4AB69-9137-417A-8530-6FA1D6EFBA3E}" presName="bgRect" presStyleLbl="bgShp" presStyleIdx="1" presStyleCnt="5"/>
      <dgm:spPr/>
    </dgm:pt>
    <dgm:pt modelId="{7BD247B8-4196-4352-8793-59644F7A983E}" type="pres">
      <dgm:prSet presAssocID="{ABA4AB69-9137-417A-8530-6FA1D6EFBA3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8BCBB1F-82AA-4AA4-994D-2DE3C39AEE7A}" type="pres">
      <dgm:prSet presAssocID="{ABA4AB69-9137-417A-8530-6FA1D6EFBA3E}" presName="spaceRect" presStyleCnt="0"/>
      <dgm:spPr/>
    </dgm:pt>
    <dgm:pt modelId="{3A3267E1-0BBE-45EF-AD8F-48E7D2A67642}" type="pres">
      <dgm:prSet presAssocID="{ABA4AB69-9137-417A-8530-6FA1D6EFBA3E}" presName="parTx" presStyleLbl="revTx" presStyleIdx="1" presStyleCnt="5">
        <dgm:presLayoutVars>
          <dgm:chMax val="0"/>
          <dgm:chPref val="0"/>
        </dgm:presLayoutVars>
      </dgm:prSet>
      <dgm:spPr/>
    </dgm:pt>
    <dgm:pt modelId="{6329A927-DEAA-45B9-B089-B926418E65BA}" type="pres">
      <dgm:prSet presAssocID="{9E138A41-A9E5-4E28-8F9B-AB2644923303}" presName="sibTrans" presStyleCnt="0"/>
      <dgm:spPr/>
    </dgm:pt>
    <dgm:pt modelId="{8EABB6FA-CF50-4E05-AF68-3E9862E2507D}" type="pres">
      <dgm:prSet presAssocID="{E070B282-F38A-40BB-961C-51D4A7085AED}" presName="compNode" presStyleCnt="0"/>
      <dgm:spPr/>
    </dgm:pt>
    <dgm:pt modelId="{D9D232A6-A8AE-4FA1-912E-DAE4605AB19E}" type="pres">
      <dgm:prSet presAssocID="{E070B282-F38A-40BB-961C-51D4A7085AED}" presName="bgRect" presStyleLbl="bgShp" presStyleIdx="2" presStyleCnt="5"/>
      <dgm:spPr/>
    </dgm:pt>
    <dgm:pt modelId="{D028D9E6-8A1F-4124-9B5C-8E2BB6B9CABA}" type="pres">
      <dgm:prSet presAssocID="{E070B282-F38A-40BB-961C-51D4A7085AED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5ACE1F93-B8C5-4280-920A-8F477A481B2D}" type="pres">
      <dgm:prSet presAssocID="{E070B282-F38A-40BB-961C-51D4A7085AED}" presName="spaceRect" presStyleCnt="0"/>
      <dgm:spPr/>
    </dgm:pt>
    <dgm:pt modelId="{6484D442-A9A2-4314-9FC2-D780C48E66E4}" type="pres">
      <dgm:prSet presAssocID="{E070B282-F38A-40BB-961C-51D4A7085AED}" presName="parTx" presStyleLbl="revTx" presStyleIdx="2" presStyleCnt="5">
        <dgm:presLayoutVars>
          <dgm:chMax val="0"/>
          <dgm:chPref val="0"/>
        </dgm:presLayoutVars>
      </dgm:prSet>
      <dgm:spPr/>
    </dgm:pt>
    <dgm:pt modelId="{555D6695-957F-4D71-9568-38E7F2E47256}" type="pres">
      <dgm:prSet presAssocID="{36D16563-D49F-4451-8F12-2A7347AA0D77}" presName="sibTrans" presStyleCnt="0"/>
      <dgm:spPr/>
    </dgm:pt>
    <dgm:pt modelId="{FF11EB61-CEE4-4752-AD55-345BFB569FD9}" type="pres">
      <dgm:prSet presAssocID="{DCA9321E-A524-4758-B78A-D07C3B73E320}" presName="compNode" presStyleCnt="0"/>
      <dgm:spPr/>
    </dgm:pt>
    <dgm:pt modelId="{8F386931-9705-4978-86FE-047EDE7BC720}" type="pres">
      <dgm:prSet presAssocID="{DCA9321E-A524-4758-B78A-D07C3B73E320}" presName="bgRect" presStyleLbl="bgShp" presStyleIdx="3" presStyleCnt="5"/>
      <dgm:spPr/>
    </dgm:pt>
    <dgm:pt modelId="{8CF89B73-AFEB-4E50-AD64-C78364C2B1B0}" type="pres">
      <dgm:prSet presAssocID="{DCA9321E-A524-4758-B78A-D07C3B73E32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861783E0-04CD-48A0-BF62-2DDC150603B0}" type="pres">
      <dgm:prSet presAssocID="{DCA9321E-A524-4758-B78A-D07C3B73E320}" presName="spaceRect" presStyleCnt="0"/>
      <dgm:spPr/>
    </dgm:pt>
    <dgm:pt modelId="{4A9D1590-A546-4EC5-AAED-ECEF73DB12FC}" type="pres">
      <dgm:prSet presAssocID="{DCA9321E-A524-4758-B78A-D07C3B73E320}" presName="parTx" presStyleLbl="revTx" presStyleIdx="3" presStyleCnt="5">
        <dgm:presLayoutVars>
          <dgm:chMax val="0"/>
          <dgm:chPref val="0"/>
        </dgm:presLayoutVars>
      </dgm:prSet>
      <dgm:spPr/>
    </dgm:pt>
    <dgm:pt modelId="{9A0D534C-FEE1-486F-94B1-BFEAE9B1BF66}" type="pres">
      <dgm:prSet presAssocID="{856D333A-9092-4293-82CD-1D8B5BE5949F}" presName="sibTrans" presStyleCnt="0"/>
      <dgm:spPr/>
    </dgm:pt>
    <dgm:pt modelId="{2404F7BE-447D-4000-9271-358944F9B1A9}" type="pres">
      <dgm:prSet presAssocID="{5CD8570E-AA76-45D8-90E4-54146CC7F4C7}" presName="compNode" presStyleCnt="0"/>
      <dgm:spPr/>
    </dgm:pt>
    <dgm:pt modelId="{CB340017-7D4B-4301-A38D-275CC3B9B9C4}" type="pres">
      <dgm:prSet presAssocID="{5CD8570E-AA76-45D8-90E4-54146CC7F4C7}" presName="bgRect" presStyleLbl="bgShp" presStyleIdx="4" presStyleCnt="5"/>
      <dgm:spPr/>
    </dgm:pt>
    <dgm:pt modelId="{421BE7BD-36E0-45CE-99BF-9113E6D0820E}" type="pres">
      <dgm:prSet presAssocID="{5CD8570E-AA76-45D8-90E4-54146CC7F4C7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49D54815-AC5A-42B4-98E2-A9A267DEEE9B}" type="pres">
      <dgm:prSet presAssocID="{5CD8570E-AA76-45D8-90E4-54146CC7F4C7}" presName="spaceRect" presStyleCnt="0"/>
      <dgm:spPr/>
    </dgm:pt>
    <dgm:pt modelId="{22CE7BD3-19FD-4E5F-A4C9-B4E654ADD48C}" type="pres">
      <dgm:prSet presAssocID="{5CD8570E-AA76-45D8-90E4-54146CC7F4C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A5778E02-F6C8-4C2F-A4E8-44AC22EBE260}" srcId="{377E83C4-06E6-4B28-A21E-DB98340E210B}" destId="{ABA4AB69-9137-417A-8530-6FA1D6EFBA3E}" srcOrd="1" destOrd="0" parTransId="{3FB3FD4B-4EB8-4444-82FA-8F3E90890577}" sibTransId="{9E138A41-A9E5-4E28-8F9B-AB2644923303}"/>
    <dgm:cxn modelId="{8137E033-2BF3-48D8-AD23-43487A72AA72}" srcId="{377E83C4-06E6-4B28-A21E-DB98340E210B}" destId="{5CD8570E-AA76-45D8-90E4-54146CC7F4C7}" srcOrd="4" destOrd="0" parTransId="{63CBE98F-60B2-4718-B97E-C08FB2E6FA65}" sibTransId="{500D7CC6-3171-44E5-8502-073BA359FDB0}"/>
    <dgm:cxn modelId="{60D69739-9513-4EE6-9549-781C2F19CC3C}" type="presOf" srcId="{DCA9321E-A524-4758-B78A-D07C3B73E320}" destId="{4A9D1590-A546-4EC5-AAED-ECEF73DB12FC}" srcOrd="0" destOrd="0" presId="urn:microsoft.com/office/officeart/2018/2/layout/IconVerticalSolidList"/>
    <dgm:cxn modelId="{51CA1653-92E7-42CD-B30E-15FCF76A5971}" type="presOf" srcId="{5CD8570E-AA76-45D8-90E4-54146CC7F4C7}" destId="{22CE7BD3-19FD-4E5F-A4C9-B4E654ADD48C}" srcOrd="0" destOrd="0" presId="urn:microsoft.com/office/officeart/2018/2/layout/IconVerticalSolidList"/>
    <dgm:cxn modelId="{E6755D75-6521-4E26-A782-B7143B53714A}" type="presOf" srcId="{ABA4AB69-9137-417A-8530-6FA1D6EFBA3E}" destId="{3A3267E1-0BBE-45EF-AD8F-48E7D2A67642}" srcOrd="0" destOrd="0" presId="urn:microsoft.com/office/officeart/2018/2/layout/IconVerticalSolidList"/>
    <dgm:cxn modelId="{67CD827C-9F5D-426A-9EEE-607EC0FD5344}" type="presOf" srcId="{BD9647F7-09A9-42CC-98AC-B92C302DE2EE}" destId="{18D1F2E1-2A6D-4596-92F1-B5A43D61782C}" srcOrd="0" destOrd="0" presId="urn:microsoft.com/office/officeart/2018/2/layout/IconVerticalSolidList"/>
    <dgm:cxn modelId="{9CCC5780-4B28-494C-83A0-75D2F0F03764}" srcId="{377E83C4-06E6-4B28-A21E-DB98340E210B}" destId="{BD9647F7-09A9-42CC-98AC-B92C302DE2EE}" srcOrd="0" destOrd="0" parTransId="{26C09D2C-F094-46EB-B51B-C0528A288026}" sibTransId="{DB041664-54E1-48BD-8CFC-E6F55996D4CB}"/>
    <dgm:cxn modelId="{97179B95-8CD1-4309-87AC-1960DA2FE81A}" srcId="{377E83C4-06E6-4B28-A21E-DB98340E210B}" destId="{E070B282-F38A-40BB-961C-51D4A7085AED}" srcOrd="2" destOrd="0" parTransId="{F06E9DBC-7869-4C00-AADE-23B2409A2BB0}" sibTransId="{36D16563-D49F-4451-8F12-2A7347AA0D77}"/>
    <dgm:cxn modelId="{1EAD69B8-031A-4321-98BD-4EC6EB857914}" type="presOf" srcId="{377E83C4-06E6-4B28-A21E-DB98340E210B}" destId="{890FE421-1266-4A89-BFB7-0B8EBCB38572}" srcOrd="0" destOrd="0" presId="urn:microsoft.com/office/officeart/2018/2/layout/IconVerticalSolidList"/>
    <dgm:cxn modelId="{B10EA0E3-1ED7-43E1-8FF6-F4F6625CEBD2}" type="presOf" srcId="{E070B282-F38A-40BB-961C-51D4A7085AED}" destId="{6484D442-A9A2-4314-9FC2-D780C48E66E4}" srcOrd="0" destOrd="0" presId="urn:microsoft.com/office/officeart/2018/2/layout/IconVerticalSolidList"/>
    <dgm:cxn modelId="{FBFB21E7-A069-4BCA-9EEF-855ED6351F5C}" srcId="{377E83C4-06E6-4B28-A21E-DB98340E210B}" destId="{DCA9321E-A524-4758-B78A-D07C3B73E320}" srcOrd="3" destOrd="0" parTransId="{0EECB32F-33FB-4476-86D0-3678C92C61AE}" sibTransId="{856D333A-9092-4293-82CD-1D8B5BE5949F}"/>
    <dgm:cxn modelId="{C3ACFA41-9125-406F-904D-A7D28C1A257A}" type="presParOf" srcId="{890FE421-1266-4A89-BFB7-0B8EBCB38572}" destId="{0990C102-EB55-4B1A-B057-5EB256B4500E}" srcOrd="0" destOrd="0" presId="urn:microsoft.com/office/officeart/2018/2/layout/IconVerticalSolidList"/>
    <dgm:cxn modelId="{C40DD49E-97C8-48C2-AB3D-7D7A77FF4D55}" type="presParOf" srcId="{0990C102-EB55-4B1A-B057-5EB256B4500E}" destId="{632C2F3E-0758-4EB4-B6CA-2764EDC48538}" srcOrd="0" destOrd="0" presId="urn:microsoft.com/office/officeart/2018/2/layout/IconVerticalSolidList"/>
    <dgm:cxn modelId="{1045DB6E-2388-4DC7-AA2A-F4B0CB7EBFEE}" type="presParOf" srcId="{0990C102-EB55-4B1A-B057-5EB256B4500E}" destId="{5C28A389-D67F-4A5D-80FF-3FA11417792E}" srcOrd="1" destOrd="0" presId="urn:microsoft.com/office/officeart/2018/2/layout/IconVerticalSolidList"/>
    <dgm:cxn modelId="{BD864E21-9C58-493D-822E-ABCA75ABBBE8}" type="presParOf" srcId="{0990C102-EB55-4B1A-B057-5EB256B4500E}" destId="{1246C246-B5ED-42AE-819A-2A204521BAF6}" srcOrd="2" destOrd="0" presId="urn:microsoft.com/office/officeart/2018/2/layout/IconVerticalSolidList"/>
    <dgm:cxn modelId="{2C4D9206-D918-4890-9F0B-17E3C52CC622}" type="presParOf" srcId="{0990C102-EB55-4B1A-B057-5EB256B4500E}" destId="{18D1F2E1-2A6D-4596-92F1-B5A43D61782C}" srcOrd="3" destOrd="0" presId="urn:microsoft.com/office/officeart/2018/2/layout/IconVerticalSolidList"/>
    <dgm:cxn modelId="{5295EDB9-5EF2-4384-A3CA-E2F354D95B0F}" type="presParOf" srcId="{890FE421-1266-4A89-BFB7-0B8EBCB38572}" destId="{BCB8F282-512B-47A0-907D-398418C5EC2A}" srcOrd="1" destOrd="0" presId="urn:microsoft.com/office/officeart/2018/2/layout/IconVerticalSolidList"/>
    <dgm:cxn modelId="{FC7906AE-AF95-4A79-BE89-0FFB26ABCB4A}" type="presParOf" srcId="{890FE421-1266-4A89-BFB7-0B8EBCB38572}" destId="{256CF130-4BB6-48D1-8A93-0E0A304CA16F}" srcOrd="2" destOrd="0" presId="urn:microsoft.com/office/officeart/2018/2/layout/IconVerticalSolidList"/>
    <dgm:cxn modelId="{91A7AB2F-7900-40F9-94E2-D49E3309D35E}" type="presParOf" srcId="{256CF130-4BB6-48D1-8A93-0E0A304CA16F}" destId="{A6540310-3779-4CAF-9072-D782BC63F5F8}" srcOrd="0" destOrd="0" presId="urn:microsoft.com/office/officeart/2018/2/layout/IconVerticalSolidList"/>
    <dgm:cxn modelId="{E16E6A7A-9A05-4E7B-BCFF-05E91275113C}" type="presParOf" srcId="{256CF130-4BB6-48D1-8A93-0E0A304CA16F}" destId="{7BD247B8-4196-4352-8793-59644F7A983E}" srcOrd="1" destOrd="0" presId="urn:microsoft.com/office/officeart/2018/2/layout/IconVerticalSolidList"/>
    <dgm:cxn modelId="{3B7EC848-B422-485E-AE51-A8043D64A8AB}" type="presParOf" srcId="{256CF130-4BB6-48D1-8A93-0E0A304CA16F}" destId="{18BCBB1F-82AA-4AA4-994D-2DE3C39AEE7A}" srcOrd="2" destOrd="0" presId="urn:microsoft.com/office/officeart/2018/2/layout/IconVerticalSolidList"/>
    <dgm:cxn modelId="{A90EF6EE-D6DE-4960-97D0-BD406EABB164}" type="presParOf" srcId="{256CF130-4BB6-48D1-8A93-0E0A304CA16F}" destId="{3A3267E1-0BBE-45EF-AD8F-48E7D2A67642}" srcOrd="3" destOrd="0" presId="urn:microsoft.com/office/officeart/2018/2/layout/IconVerticalSolidList"/>
    <dgm:cxn modelId="{7B98937D-D51E-4962-B7F3-65A5DFA4F75C}" type="presParOf" srcId="{890FE421-1266-4A89-BFB7-0B8EBCB38572}" destId="{6329A927-DEAA-45B9-B089-B926418E65BA}" srcOrd="3" destOrd="0" presId="urn:microsoft.com/office/officeart/2018/2/layout/IconVerticalSolidList"/>
    <dgm:cxn modelId="{86D85681-0162-4C9C-90FA-ED3EB79AC409}" type="presParOf" srcId="{890FE421-1266-4A89-BFB7-0B8EBCB38572}" destId="{8EABB6FA-CF50-4E05-AF68-3E9862E2507D}" srcOrd="4" destOrd="0" presId="urn:microsoft.com/office/officeart/2018/2/layout/IconVerticalSolidList"/>
    <dgm:cxn modelId="{BC68780B-7FB0-41E8-9294-10AEFBFEB78E}" type="presParOf" srcId="{8EABB6FA-CF50-4E05-AF68-3E9862E2507D}" destId="{D9D232A6-A8AE-4FA1-912E-DAE4605AB19E}" srcOrd="0" destOrd="0" presId="urn:microsoft.com/office/officeart/2018/2/layout/IconVerticalSolidList"/>
    <dgm:cxn modelId="{88A0E8E6-2152-4978-8203-4CBB5DB0B400}" type="presParOf" srcId="{8EABB6FA-CF50-4E05-AF68-3E9862E2507D}" destId="{D028D9E6-8A1F-4124-9B5C-8E2BB6B9CABA}" srcOrd="1" destOrd="0" presId="urn:microsoft.com/office/officeart/2018/2/layout/IconVerticalSolidList"/>
    <dgm:cxn modelId="{DB448112-A633-4C3B-BDDC-92E446519451}" type="presParOf" srcId="{8EABB6FA-CF50-4E05-AF68-3E9862E2507D}" destId="{5ACE1F93-B8C5-4280-920A-8F477A481B2D}" srcOrd="2" destOrd="0" presId="urn:microsoft.com/office/officeart/2018/2/layout/IconVerticalSolidList"/>
    <dgm:cxn modelId="{6C12D376-73C8-4EFD-89E9-D79D194A4024}" type="presParOf" srcId="{8EABB6FA-CF50-4E05-AF68-3E9862E2507D}" destId="{6484D442-A9A2-4314-9FC2-D780C48E66E4}" srcOrd="3" destOrd="0" presId="urn:microsoft.com/office/officeart/2018/2/layout/IconVerticalSolidList"/>
    <dgm:cxn modelId="{A169FC15-1BE8-46B5-8338-0D0154996162}" type="presParOf" srcId="{890FE421-1266-4A89-BFB7-0B8EBCB38572}" destId="{555D6695-957F-4D71-9568-38E7F2E47256}" srcOrd="5" destOrd="0" presId="urn:microsoft.com/office/officeart/2018/2/layout/IconVerticalSolidList"/>
    <dgm:cxn modelId="{B54FA9E8-95B5-47AE-B5DA-B13B901346B5}" type="presParOf" srcId="{890FE421-1266-4A89-BFB7-0B8EBCB38572}" destId="{FF11EB61-CEE4-4752-AD55-345BFB569FD9}" srcOrd="6" destOrd="0" presId="urn:microsoft.com/office/officeart/2018/2/layout/IconVerticalSolidList"/>
    <dgm:cxn modelId="{5C1C90BE-0976-4CB1-A412-67A0A2EC9759}" type="presParOf" srcId="{FF11EB61-CEE4-4752-AD55-345BFB569FD9}" destId="{8F386931-9705-4978-86FE-047EDE7BC720}" srcOrd="0" destOrd="0" presId="urn:microsoft.com/office/officeart/2018/2/layout/IconVerticalSolidList"/>
    <dgm:cxn modelId="{11CA1752-7972-4BA0-A4FB-6A21F3459706}" type="presParOf" srcId="{FF11EB61-CEE4-4752-AD55-345BFB569FD9}" destId="{8CF89B73-AFEB-4E50-AD64-C78364C2B1B0}" srcOrd="1" destOrd="0" presId="urn:microsoft.com/office/officeart/2018/2/layout/IconVerticalSolidList"/>
    <dgm:cxn modelId="{8ABFBD65-D413-44E2-A30E-9270D8FCD7AF}" type="presParOf" srcId="{FF11EB61-CEE4-4752-AD55-345BFB569FD9}" destId="{861783E0-04CD-48A0-BF62-2DDC150603B0}" srcOrd="2" destOrd="0" presId="urn:microsoft.com/office/officeart/2018/2/layout/IconVerticalSolidList"/>
    <dgm:cxn modelId="{B7F7E1C7-0AB0-4229-B2A6-D2E79E478B31}" type="presParOf" srcId="{FF11EB61-CEE4-4752-AD55-345BFB569FD9}" destId="{4A9D1590-A546-4EC5-AAED-ECEF73DB12FC}" srcOrd="3" destOrd="0" presId="urn:microsoft.com/office/officeart/2018/2/layout/IconVerticalSolidList"/>
    <dgm:cxn modelId="{DDD5DA81-47C5-4C78-BD97-7149776EF879}" type="presParOf" srcId="{890FE421-1266-4A89-BFB7-0B8EBCB38572}" destId="{9A0D534C-FEE1-486F-94B1-BFEAE9B1BF66}" srcOrd="7" destOrd="0" presId="urn:microsoft.com/office/officeart/2018/2/layout/IconVerticalSolidList"/>
    <dgm:cxn modelId="{2A436864-2F01-4959-A42E-B041D0FC8CB4}" type="presParOf" srcId="{890FE421-1266-4A89-BFB7-0B8EBCB38572}" destId="{2404F7BE-447D-4000-9271-358944F9B1A9}" srcOrd="8" destOrd="0" presId="urn:microsoft.com/office/officeart/2018/2/layout/IconVerticalSolidList"/>
    <dgm:cxn modelId="{DABF0D25-5C0F-42D4-8188-6EF299E8463E}" type="presParOf" srcId="{2404F7BE-447D-4000-9271-358944F9B1A9}" destId="{CB340017-7D4B-4301-A38D-275CC3B9B9C4}" srcOrd="0" destOrd="0" presId="urn:microsoft.com/office/officeart/2018/2/layout/IconVerticalSolidList"/>
    <dgm:cxn modelId="{24DFFB89-22B3-4906-962B-BE138DC1B7A9}" type="presParOf" srcId="{2404F7BE-447D-4000-9271-358944F9B1A9}" destId="{421BE7BD-36E0-45CE-99BF-9113E6D0820E}" srcOrd="1" destOrd="0" presId="urn:microsoft.com/office/officeart/2018/2/layout/IconVerticalSolidList"/>
    <dgm:cxn modelId="{F88CE414-08FE-4841-8406-B2E29DDCA75B}" type="presParOf" srcId="{2404F7BE-447D-4000-9271-358944F9B1A9}" destId="{49D54815-AC5A-42B4-98E2-A9A267DEEE9B}" srcOrd="2" destOrd="0" presId="urn:microsoft.com/office/officeart/2018/2/layout/IconVerticalSolidList"/>
    <dgm:cxn modelId="{BB0057D2-047B-4F77-A8D4-00C658D7DA0D}" type="presParOf" srcId="{2404F7BE-447D-4000-9271-358944F9B1A9}" destId="{22CE7BD3-19FD-4E5F-A4C9-B4E654ADD48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2C2F3E-0758-4EB4-B6CA-2764EDC48538}">
      <dsp:nvSpPr>
        <dsp:cNvPr id="0" name=""/>
        <dsp:cNvSpPr/>
      </dsp:nvSpPr>
      <dsp:spPr>
        <a:xfrm>
          <a:off x="0" y="4296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28A389-D67F-4A5D-80FF-3FA11417792E}">
      <dsp:nvSpPr>
        <dsp:cNvPr id="0" name=""/>
        <dsp:cNvSpPr/>
      </dsp:nvSpPr>
      <dsp:spPr>
        <a:xfrm>
          <a:off x="276813" y="210190"/>
          <a:ext cx="503296" cy="50329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D1F2E1-2A6D-4596-92F1-B5A43D61782C}">
      <dsp:nvSpPr>
        <dsp:cNvPr id="0" name=""/>
        <dsp:cNvSpPr/>
      </dsp:nvSpPr>
      <dsp:spPr>
        <a:xfrm>
          <a:off x="1056922" y="4296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Automatically matches students into study groups</a:t>
          </a:r>
        </a:p>
      </dsp:txBody>
      <dsp:txXfrm>
        <a:off x="1056922" y="4296"/>
        <a:ext cx="5115025" cy="915084"/>
      </dsp:txXfrm>
    </dsp:sp>
    <dsp:sp modelId="{A6540310-3779-4CAF-9072-D782BC63F5F8}">
      <dsp:nvSpPr>
        <dsp:cNvPr id="0" name=""/>
        <dsp:cNvSpPr/>
      </dsp:nvSpPr>
      <dsp:spPr>
        <a:xfrm>
          <a:off x="0" y="1148151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D247B8-4196-4352-8793-59644F7A983E}">
      <dsp:nvSpPr>
        <dsp:cNvPr id="0" name=""/>
        <dsp:cNvSpPr/>
      </dsp:nvSpPr>
      <dsp:spPr>
        <a:xfrm>
          <a:off x="276813" y="1354045"/>
          <a:ext cx="503296" cy="50329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3267E1-0BBE-45EF-AD8F-48E7D2A67642}">
      <dsp:nvSpPr>
        <dsp:cNvPr id="0" name=""/>
        <dsp:cNvSpPr/>
      </dsp:nvSpPr>
      <dsp:spPr>
        <a:xfrm>
          <a:off x="1056922" y="1148151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Matching criteria: shared course + topic difficulty + available time slots</a:t>
          </a:r>
        </a:p>
      </dsp:txBody>
      <dsp:txXfrm>
        <a:off x="1056922" y="1148151"/>
        <a:ext cx="5115025" cy="915084"/>
      </dsp:txXfrm>
    </dsp:sp>
    <dsp:sp modelId="{D9D232A6-A8AE-4FA1-912E-DAE4605AB19E}">
      <dsp:nvSpPr>
        <dsp:cNvPr id="0" name=""/>
        <dsp:cNvSpPr/>
      </dsp:nvSpPr>
      <dsp:spPr>
        <a:xfrm>
          <a:off x="0" y="2292007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28D9E6-8A1F-4124-9B5C-8E2BB6B9CABA}">
      <dsp:nvSpPr>
        <dsp:cNvPr id="0" name=""/>
        <dsp:cNvSpPr/>
      </dsp:nvSpPr>
      <dsp:spPr>
        <a:xfrm>
          <a:off x="276813" y="2497901"/>
          <a:ext cx="503296" cy="50329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84D442-A9A2-4314-9FC2-D780C48E66E4}">
      <dsp:nvSpPr>
        <dsp:cNvPr id="0" name=""/>
        <dsp:cNvSpPr/>
      </dsp:nvSpPr>
      <dsp:spPr>
        <a:xfrm>
          <a:off x="1056922" y="2292007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Key constraints: no student in two groups at the same time, handles odd student counts</a:t>
          </a:r>
        </a:p>
      </dsp:txBody>
      <dsp:txXfrm>
        <a:off x="1056922" y="2292007"/>
        <a:ext cx="5115025" cy="915084"/>
      </dsp:txXfrm>
    </dsp:sp>
    <dsp:sp modelId="{8F386931-9705-4978-86FE-047EDE7BC720}">
      <dsp:nvSpPr>
        <dsp:cNvPr id="0" name=""/>
        <dsp:cNvSpPr/>
      </dsp:nvSpPr>
      <dsp:spPr>
        <a:xfrm>
          <a:off x="0" y="3435863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F89B73-AFEB-4E50-AD64-C78364C2B1B0}">
      <dsp:nvSpPr>
        <dsp:cNvPr id="0" name=""/>
        <dsp:cNvSpPr/>
      </dsp:nvSpPr>
      <dsp:spPr>
        <a:xfrm>
          <a:off x="276813" y="3641757"/>
          <a:ext cx="503296" cy="50329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9D1590-A546-4EC5-AAED-ECEF73DB12FC}">
      <dsp:nvSpPr>
        <dsp:cNvPr id="0" name=""/>
        <dsp:cNvSpPr/>
      </dsp:nvSpPr>
      <dsp:spPr>
        <a:xfrm>
          <a:off x="1056922" y="3435863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Built in Python; 42 automated tests written and passing</a:t>
          </a:r>
        </a:p>
      </dsp:txBody>
      <dsp:txXfrm>
        <a:off x="1056922" y="3435863"/>
        <a:ext cx="5115025" cy="915084"/>
      </dsp:txXfrm>
    </dsp:sp>
    <dsp:sp modelId="{CB340017-7D4B-4301-A38D-275CC3B9B9C4}">
      <dsp:nvSpPr>
        <dsp:cNvPr id="0" name=""/>
        <dsp:cNvSpPr/>
      </dsp:nvSpPr>
      <dsp:spPr>
        <a:xfrm>
          <a:off x="0" y="4579719"/>
          <a:ext cx="6171948" cy="91508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1BE7BD-36E0-45CE-99BF-9113E6D0820E}">
      <dsp:nvSpPr>
        <dsp:cNvPr id="0" name=""/>
        <dsp:cNvSpPr/>
      </dsp:nvSpPr>
      <dsp:spPr>
        <a:xfrm>
          <a:off x="276813" y="4785613"/>
          <a:ext cx="503296" cy="50329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CE7BD3-19FD-4E5F-A4C9-B4E654ADD48C}">
      <dsp:nvSpPr>
        <dsp:cNvPr id="0" name=""/>
        <dsp:cNvSpPr/>
      </dsp:nvSpPr>
      <dsp:spPr>
        <a:xfrm>
          <a:off x="1056922" y="4579719"/>
          <a:ext cx="5115025" cy="9150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46" tIns="96846" rIns="96846" bIns="9684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[Student Registers] → [Matching Engine] → [Group Assigned]</a:t>
          </a:r>
        </a:p>
      </dsp:txBody>
      <dsp:txXfrm>
        <a:off x="1056922" y="4579719"/>
        <a:ext cx="5115025" cy="9150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094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929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231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305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93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52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29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33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482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39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830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6285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38" r:id="rId6"/>
    <p:sldLayoutId id="2147483734" r:id="rId7"/>
    <p:sldLayoutId id="2147483735" r:id="rId8"/>
    <p:sldLayoutId id="2147483736" r:id="rId9"/>
    <p:sldLayoutId id="2147483737" r:id="rId10"/>
    <p:sldLayoutId id="214748373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520223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 dirty="0">
                <a:ea typeface="+mj-lt"/>
                <a:cs typeface="+mj-lt"/>
              </a:rPr>
              <a:t>Smart Study Group Matching System </a:t>
            </a:r>
            <a:br>
              <a:rPr lang="en-US" sz="3800" dirty="0">
                <a:ea typeface="+mj-lt"/>
                <a:cs typeface="+mj-lt"/>
              </a:rPr>
            </a:br>
            <a:br>
              <a:rPr lang="en-US" sz="3800" dirty="0">
                <a:ea typeface="+mj-lt"/>
                <a:cs typeface="+mj-lt"/>
              </a:rPr>
            </a:br>
            <a:r>
              <a:rPr lang="en-US" sz="3800" dirty="0">
                <a:ea typeface="+mj-lt"/>
                <a:cs typeface="+mj-lt"/>
              </a:rPr>
              <a:t>Software Quality </a:t>
            </a:r>
            <a:r>
              <a:rPr lang="en-US" sz="3800">
                <a:ea typeface="+mj-lt"/>
                <a:cs typeface="+mj-lt"/>
              </a:rPr>
              <a:t>Assurance – SWE3020</a:t>
            </a:r>
            <a:br>
              <a:rPr lang="en-US" sz="3800" dirty="0">
                <a:ea typeface="+mj-lt"/>
                <a:cs typeface="+mj-lt"/>
              </a:rPr>
            </a:br>
            <a:br>
              <a:rPr lang="en-US" sz="3800" dirty="0">
                <a:ea typeface="+mj-lt"/>
                <a:cs typeface="+mj-lt"/>
              </a:rPr>
            </a:br>
            <a:r>
              <a:rPr lang="en-US" sz="3800">
                <a:ea typeface="+mj-lt"/>
                <a:cs typeface="+mj-lt"/>
              </a:rPr>
              <a:t>Progress Presentation</a:t>
            </a:r>
            <a:br>
              <a:rPr lang="en-US" sz="3800" dirty="0">
                <a:ea typeface="+mj-lt"/>
                <a:cs typeface="+mj-lt"/>
              </a:rPr>
            </a:br>
            <a:br>
              <a:rPr lang="en-US" sz="3800" dirty="0">
                <a:ea typeface="+mj-lt"/>
                <a:cs typeface="+mj-lt"/>
              </a:rPr>
            </a:br>
            <a:r>
              <a:rPr lang="en-US" sz="3800"/>
              <a:t>Group 2</a:t>
            </a:r>
          </a:p>
        </p:txBody>
      </p:sp>
      <p:pic>
        <p:nvPicPr>
          <p:cNvPr id="23" name="Picture 22" descr="People working on ideas">
            <a:extLst>
              <a:ext uri="{FF2B5EF4-FFF2-40B4-BE49-F238E27FC236}">
                <a16:creationId xmlns:a16="http://schemas.microsoft.com/office/drawing/2014/main" id="{596B59F4-2F49-000E-A5A0-830288D9C1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906" r="30517" b="2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C72FB8-0DB3-BB26-17A6-CEDE0F5FB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3914776" cy="3977269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What We Built</a:t>
            </a: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D5B9F-5FB6-467D-83D5-DF82F19073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5240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1652A7-202E-5593-DC7E-491E62E579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3636400"/>
              </p:ext>
            </p:extLst>
          </p:nvPr>
        </p:nvGraphicFramePr>
        <p:xfrm>
          <a:off x="5219952" y="723900"/>
          <a:ext cx="6171948" cy="54991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8639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0B4EA-41B4-95B9-482E-CB459735B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SQA Quality Objectives (McCall's Model)</a:t>
            </a: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DCDEFE9-AAF7-4ABF-ADAA-7032F90D82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0020746"/>
              </p:ext>
            </p:extLst>
          </p:nvPr>
        </p:nvGraphicFramePr>
        <p:xfrm>
          <a:off x="903100" y="2276474"/>
          <a:ext cx="10423900" cy="385763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916368">
                  <a:extLst>
                    <a:ext uri="{9D8B030D-6E8A-4147-A177-3AD203B41FA5}">
                      <a16:colId xmlns:a16="http://schemas.microsoft.com/office/drawing/2014/main" val="3298381822"/>
                    </a:ext>
                  </a:extLst>
                </a:gridCol>
                <a:gridCol w="6507532">
                  <a:extLst>
                    <a:ext uri="{9D8B030D-6E8A-4147-A177-3AD203B41FA5}">
                      <a16:colId xmlns:a16="http://schemas.microsoft.com/office/drawing/2014/main" val="3886334381"/>
                    </a:ext>
                  </a:extLst>
                </a:gridCol>
              </a:tblGrid>
              <a:tr h="529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  <a:effectLst/>
                        </a:rPr>
                        <a:t>Quality Factor</a:t>
                      </a:r>
                    </a:p>
                  </a:txBody>
                  <a:tcPr marL="154096" marR="154096" marT="71121" marB="71121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  <a:effectLst/>
                        </a:rPr>
                        <a:t>What it means for our system</a:t>
                      </a:r>
                    </a:p>
                  </a:txBody>
                  <a:tcPr marL="154096" marR="154096" marT="71121" marB="71121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527612"/>
                  </a:ext>
                </a:extLst>
              </a:tr>
              <a:tr h="529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  <a:effectLst/>
                        </a:rPr>
                        <a:t>Correctness</a:t>
                      </a:r>
                      <a:endParaRPr lang="en-US" sz="2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4096" marR="154096" marT="71121" marB="71121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chemeClr val="tx1"/>
                          </a:solidFill>
                          <a:effectLst/>
                        </a:rPr>
                        <a:t>Matching output must follow defined rules exactly</a:t>
                      </a:r>
                    </a:p>
                  </a:txBody>
                  <a:tcPr marL="154096" marR="154096" marT="71121" marB="71121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7918146"/>
                  </a:ext>
                </a:extLst>
              </a:tr>
              <a:tr h="870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  <a:effectLst/>
                        </a:rPr>
                        <a:t>Reliability</a:t>
                      </a:r>
                      <a:endParaRPr lang="en-US" sz="2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4096" marR="154096" marT="71121" marB="71121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chemeClr val="tx1"/>
                          </a:solidFill>
                          <a:effectLst/>
                        </a:rPr>
                        <a:t>System must not crash on odd counts or empty inputs</a:t>
                      </a:r>
                    </a:p>
                  </a:txBody>
                  <a:tcPr marL="154096" marR="154096" marT="71121" marB="71121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104395"/>
                  </a:ext>
                </a:extLst>
              </a:tr>
              <a:tr h="529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  <a:effectLst/>
                        </a:rPr>
                        <a:t>Usability</a:t>
                      </a:r>
                      <a:endParaRPr lang="en-US" sz="2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4096" marR="154096" marT="71121" marB="71121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chemeClr val="tx1"/>
                          </a:solidFill>
                          <a:effectLst/>
                        </a:rPr>
                        <a:t>Students complete registration without confusion</a:t>
                      </a:r>
                    </a:p>
                  </a:txBody>
                  <a:tcPr marL="154096" marR="154096" marT="71121" marB="71121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8916"/>
                  </a:ext>
                </a:extLst>
              </a:tr>
              <a:tr h="529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  <a:effectLst/>
                        </a:rPr>
                        <a:t>Testability</a:t>
                      </a:r>
                      <a:endParaRPr lang="en-US" sz="2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4096" marR="154096" marT="71121" marB="71121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chemeClr val="tx1"/>
                          </a:solidFill>
                          <a:effectLst/>
                        </a:rPr>
                        <a:t>Modules structured for independent unit testing</a:t>
                      </a:r>
                    </a:p>
                  </a:txBody>
                  <a:tcPr marL="154096" marR="154096" marT="71121" marB="71121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206060"/>
                  </a:ext>
                </a:extLst>
              </a:tr>
              <a:tr h="8705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solidFill>
                            <a:schemeClr val="tx1"/>
                          </a:solidFill>
                          <a:effectLst/>
                        </a:rPr>
                        <a:t>Maintainability</a:t>
                      </a:r>
                      <a:endParaRPr lang="en-US" sz="22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54096" marR="154096" marT="71121" marB="71121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solidFill>
                            <a:schemeClr val="tx1"/>
                          </a:solidFill>
                          <a:effectLst/>
                        </a:rPr>
                        <a:t>Code is modular and documented for future changes</a:t>
                      </a:r>
                    </a:p>
                  </a:txBody>
                  <a:tcPr marL="154096" marR="154096" marT="71121" marB="71121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69079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4602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DA2EEA-A59B-C644-A8B8-27A4D7704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7270"/>
            <a:ext cx="3819375" cy="3352767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SQA Plan – Six Standards Areas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A88CA-553E-9658-D269-C153FE05F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990" y="908957"/>
            <a:ext cx="6716922" cy="52233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>
                <a:ea typeface="+mn-lt"/>
                <a:cs typeface="+mn-lt"/>
              </a:rPr>
              <a:t>Coding Standards</a:t>
            </a:r>
            <a:r>
              <a:rPr lang="en-US">
                <a:ea typeface="+mn-lt"/>
                <a:cs typeface="+mn-lt"/>
              </a:rPr>
              <a:t> — </a:t>
            </a:r>
            <a:r>
              <a:rPr lang="en-US" err="1">
                <a:ea typeface="+mn-lt"/>
                <a:cs typeface="+mn-lt"/>
              </a:rPr>
              <a:t>snake_case</a:t>
            </a:r>
            <a:r>
              <a:rPr lang="en-US">
                <a:ea typeface="+mn-lt"/>
                <a:cs typeface="+mn-lt"/>
              </a:rPr>
              <a:t> naming, max 30 lines per function, no hardcoded values</a:t>
            </a:r>
            <a:endParaRPr lang="en-US"/>
          </a:p>
          <a:p>
            <a:pPr>
              <a:lnSpc>
                <a:spcPct val="100000"/>
              </a:lnSpc>
            </a:pPr>
            <a:r>
              <a:rPr lang="en-US" b="1">
                <a:ea typeface="+mn-lt"/>
                <a:cs typeface="+mn-lt"/>
              </a:rPr>
              <a:t>Database Design Standards</a:t>
            </a:r>
            <a:r>
              <a:rPr lang="en-US">
                <a:ea typeface="+mn-lt"/>
                <a:cs typeface="+mn-lt"/>
              </a:rPr>
              <a:t> — 3NF </a:t>
            </a:r>
            <a:r>
              <a:rPr lang="en-US" err="1">
                <a:ea typeface="+mn-lt"/>
                <a:cs typeface="+mn-lt"/>
              </a:rPr>
              <a:t>normalisation</a:t>
            </a:r>
            <a:r>
              <a:rPr lang="en-US">
                <a:ea typeface="+mn-lt"/>
                <a:cs typeface="+mn-lt"/>
              </a:rPr>
              <a:t>, unique constraint: no student in two groups at same time slot</a:t>
            </a:r>
            <a:endParaRPr lang="en-US"/>
          </a:p>
          <a:p>
            <a:pPr>
              <a:lnSpc>
                <a:spcPct val="100000"/>
              </a:lnSpc>
            </a:pPr>
            <a:r>
              <a:rPr lang="en-US" b="1">
                <a:ea typeface="+mn-lt"/>
                <a:cs typeface="+mn-lt"/>
              </a:rPr>
              <a:t>GUI Design Standards</a:t>
            </a:r>
            <a:r>
              <a:rPr lang="en-US">
                <a:ea typeface="+mn-lt"/>
                <a:cs typeface="+mn-lt"/>
              </a:rPr>
              <a:t> — course selection via dropdown, meaningful error messages</a:t>
            </a:r>
            <a:endParaRPr lang="en-US"/>
          </a:p>
          <a:p>
            <a:pPr>
              <a:lnSpc>
                <a:spcPct val="100000"/>
              </a:lnSpc>
            </a:pPr>
            <a:endParaRPr lang="en-US"/>
          </a:p>
          <a:p>
            <a:pPr>
              <a:lnSpc>
                <a:spcPct val="100000"/>
              </a:lnSpc>
            </a:pPr>
            <a:r>
              <a:rPr lang="en-US" b="1"/>
              <a:t>Testing Standards</a:t>
            </a:r>
            <a:r>
              <a:rPr lang="en-US"/>
              <a:t> — EP, BVA, CFG; every branch covered;test IDs trace to requirements</a:t>
            </a:r>
          </a:p>
          <a:p>
            <a:pPr>
              <a:lnSpc>
                <a:spcPct val="100000"/>
              </a:lnSpc>
            </a:pPr>
            <a:r>
              <a:rPr lang="en-US" b="1"/>
              <a:t>Review Standards</a:t>
            </a:r>
            <a:r>
              <a:rPr lang="en-US"/>
              <a:t> — peer review checklist, walkthroughbefore each test phase</a:t>
            </a:r>
          </a:p>
          <a:p>
            <a:pPr>
              <a:lnSpc>
                <a:spcPct val="100000"/>
              </a:lnSpc>
            </a:pPr>
            <a:r>
              <a:rPr lang="en-US" b="1"/>
              <a:t>Org. Process Reference</a:t>
            </a:r>
            <a:r>
              <a:rPr lang="en-US"/>
              <a:t> — aligned to IEEE SQA definition</a:t>
            </a:r>
          </a:p>
          <a:p>
            <a:pPr>
              <a:lnSpc>
                <a:spcPct val="100000"/>
              </a:lnSpc>
            </a:pPr>
            <a:endParaRPr lang="en-US"/>
          </a:p>
          <a:p>
            <a:pPr>
              <a:lnSpc>
                <a:spcPct val="100000"/>
              </a:lnSpc>
            </a:pPr>
            <a:endParaRPr lang="en-US"/>
          </a:p>
          <a:p>
            <a:pPr>
              <a:lnSpc>
                <a:spcPct val="100000"/>
              </a:lnSpc>
            </a:pPr>
            <a:endParaRPr lang="en-US"/>
          </a:p>
          <a:p>
            <a:pPr>
              <a:lnSpc>
                <a:spcPct val="100000"/>
              </a:lnSpc>
            </a:pPr>
            <a:endParaRPr lang="en-US"/>
          </a:p>
          <a:p>
            <a:pPr>
              <a:lnSpc>
                <a:spcPct val="100000"/>
              </a:lnSpc>
            </a:pP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230C0A8-3E5C-476B-A64B-4D4FDE8D5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5426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8F3677-8782-0610-6950-1F5A1A7E2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SQA Integrated Into the Project Lifecycle</a:t>
            </a: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91D0C51C-ED18-0F6D-E022-E6CD1142F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876" y="2801676"/>
            <a:ext cx="8324247" cy="2007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448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A40CCE-7B51-7474-AF87-B26992690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Two-Track Testing Approach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C532C39-A219-70FE-6A92-7B1EC33B39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1862760"/>
              </p:ext>
            </p:extLst>
          </p:nvPr>
        </p:nvGraphicFramePr>
        <p:xfrm>
          <a:off x="800100" y="2502006"/>
          <a:ext cx="10629902" cy="3406567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392969">
                  <a:extLst>
                    <a:ext uri="{9D8B030D-6E8A-4147-A177-3AD203B41FA5}">
                      <a16:colId xmlns:a16="http://schemas.microsoft.com/office/drawing/2014/main" val="4246104908"/>
                    </a:ext>
                  </a:extLst>
                </a:gridCol>
                <a:gridCol w="3128426">
                  <a:extLst>
                    <a:ext uri="{9D8B030D-6E8A-4147-A177-3AD203B41FA5}">
                      <a16:colId xmlns:a16="http://schemas.microsoft.com/office/drawing/2014/main" val="3286422031"/>
                    </a:ext>
                  </a:extLst>
                </a:gridCol>
                <a:gridCol w="5108507">
                  <a:extLst>
                    <a:ext uri="{9D8B030D-6E8A-4147-A177-3AD203B41FA5}">
                      <a16:colId xmlns:a16="http://schemas.microsoft.com/office/drawing/2014/main" val="3009653568"/>
                    </a:ext>
                  </a:extLst>
                </a:gridCol>
              </a:tblGrid>
              <a:tr h="774687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500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223167" marR="133901" marT="133901" marB="133901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500" b="1" i="0" u="none" strike="noStrike" noProof="0">
                          <a:solidFill>
                            <a:srgbClr val="FFFFFF"/>
                          </a:solidFill>
                          <a:effectLst/>
                          <a:latin typeface="Calisto MT"/>
                        </a:rPr>
                      </a:br>
                      <a:r>
                        <a:rPr lang="en-US" sz="1500" b="1" i="0" u="none" strike="noStrike" noProof="0">
                          <a:solidFill>
                            <a:srgbClr val="FFFFFF"/>
                          </a:solidFill>
                          <a:effectLst/>
                          <a:latin typeface="Calisto MT"/>
                        </a:rPr>
                        <a:t>Black Box</a:t>
                      </a:r>
                    </a:p>
                  </a:txBody>
                  <a:tcPr marL="223167" marR="133901" marT="133901" marB="133901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500" b="1" i="0" u="none" strike="noStrike" noProof="0">
                        <a:solidFill>
                          <a:srgbClr val="FFFFFF"/>
                        </a:solidFill>
                        <a:latin typeface="Calisto MT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noProof="0">
                          <a:solidFill>
                            <a:srgbClr val="FFFFFF"/>
                          </a:solidFill>
                          <a:latin typeface="Calisto MT"/>
                        </a:rPr>
                        <a:t>White Box</a:t>
                      </a:r>
                    </a:p>
                  </a:txBody>
                  <a:tcPr marL="223167" marR="133901" marT="133901" marB="133901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116883"/>
                  </a:ext>
                </a:extLst>
              </a:tr>
              <a:tr h="541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View</a:t>
                      </a:r>
                      <a:endParaRPr lang="en-US" sz="15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223167" marR="133901" marT="133901" marB="133901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External </a:t>
                      </a:r>
                      <a:r>
                        <a:rPr lang="en-US" sz="15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behaviour</a:t>
                      </a:r>
                    </a:p>
                  </a:txBody>
                  <a:tcPr marL="223167" marR="133901" marT="133901" marB="133901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Internal structure</a:t>
                      </a:r>
                    </a:p>
                  </a:txBody>
                  <a:tcPr marL="223167" marR="133901" marT="133901" marB="133901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2614157"/>
                  </a:ext>
                </a:extLst>
              </a:tr>
              <a:tr h="541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Techniques</a:t>
                      </a:r>
                      <a:endParaRPr lang="en-US" sz="15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223167" marR="133901" marT="133901" marB="133901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EP + BVA</a:t>
                      </a:r>
                    </a:p>
                  </a:txBody>
                  <a:tcPr marL="223167" marR="133901" marT="133901" marB="133901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CFG + Branch Coverage + DU Analysis</a:t>
                      </a:r>
                    </a:p>
                  </a:txBody>
                  <a:tcPr marL="223167" marR="133901" marT="133901" marB="133901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402479"/>
                  </a:ext>
                </a:extLst>
              </a:tr>
              <a:tr h="774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What it finds</a:t>
                      </a:r>
                      <a:endParaRPr lang="en-US" sz="15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223167" marR="133901" marT="133901" marB="133901" anchor="ctr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Wrong outputs, missing validations</a:t>
                      </a:r>
                    </a:p>
                  </a:txBody>
                  <a:tcPr marL="223167" marR="133901" marT="133901" marB="133901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Untested branches, variable lifecycle bugs</a:t>
                      </a:r>
                    </a:p>
                  </a:txBody>
                  <a:tcPr marL="223167" marR="133901" marT="133901" marB="133901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259318"/>
                  </a:ext>
                </a:extLst>
              </a:tr>
              <a:tr h="7746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Applied to</a:t>
                      </a:r>
                      <a:endParaRPr lang="en-US" sz="15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223167" marR="133901" marT="133901" marB="133901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Course matching, group size, conflicts, odd counts</a:t>
                      </a:r>
                    </a:p>
                  </a:txBody>
                  <a:tcPr marL="223167" marR="133901" marT="133901" marB="133901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Monaspace Neon"/>
                        </a:rPr>
                        <a:t>match_students</a:t>
                      </a: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Monaspace Neon"/>
                        </a:rPr>
                        <a:t>()</a:t>
                      </a: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</a:rPr>
                        <a:t> and </a:t>
                      </a:r>
                      <a:r>
                        <a:rPr lang="en-US" sz="150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Monaspace Neon"/>
                        </a:rPr>
                        <a:t>has_time_conflict</a:t>
                      </a:r>
                      <a:r>
                        <a:rPr lang="en-US" sz="150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Monaspace Neon"/>
                        </a:rPr>
                        <a:t>()</a:t>
                      </a:r>
                      <a:endParaRPr lang="en-US" sz="150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</a:endParaRPr>
                    </a:p>
                  </a:txBody>
                  <a:tcPr marL="223167" marR="133901" marT="133901" marB="133901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47290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1228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99B2B8-A7C8-3C7D-1F8A-1E8F442F7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Black Box – Equivalence Partitioning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BBB4D69-69C6-46D5-9AF7-3187A851E667}"/>
              </a:ext>
            </a:extLst>
          </p:cNvPr>
          <p:cNvSpPr txBox="1"/>
          <p:nvPr/>
        </p:nvSpPr>
        <p:spPr>
          <a:xfrm>
            <a:off x="7200900" y="3584787"/>
            <a:ext cx="4201584" cy="52012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/>
              <a:t>Example — Course Matching: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BBB1F7E-77E3-7295-6BD5-641888C8FD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0705754"/>
              </p:ext>
            </p:extLst>
          </p:nvPr>
        </p:nvGraphicFramePr>
        <p:xfrm>
          <a:off x="800100" y="2460012"/>
          <a:ext cx="6072189" cy="2958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66585">
                  <a:extLst>
                    <a:ext uri="{9D8B030D-6E8A-4147-A177-3AD203B41FA5}">
                      <a16:colId xmlns:a16="http://schemas.microsoft.com/office/drawing/2014/main" val="478349471"/>
                    </a:ext>
                  </a:extLst>
                </a:gridCol>
                <a:gridCol w="1965875">
                  <a:extLst>
                    <a:ext uri="{9D8B030D-6E8A-4147-A177-3AD203B41FA5}">
                      <a16:colId xmlns:a16="http://schemas.microsoft.com/office/drawing/2014/main" val="3331167870"/>
                    </a:ext>
                  </a:extLst>
                </a:gridCol>
                <a:gridCol w="2039729">
                  <a:extLst>
                    <a:ext uri="{9D8B030D-6E8A-4147-A177-3AD203B41FA5}">
                      <a16:colId xmlns:a16="http://schemas.microsoft.com/office/drawing/2014/main" val="3276987896"/>
                    </a:ext>
                  </a:extLst>
                </a:gridCol>
              </a:tblGrid>
              <a:tr h="739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>
                          <a:effectLst/>
                        </a:rPr>
                        <a:t>Partition</a:t>
                      </a:r>
                    </a:p>
                  </a:txBody>
                  <a:tcPr marL="130924" marR="130924" marT="60426" marB="6042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>
                          <a:effectLst/>
                        </a:rPr>
                        <a:t>Input</a:t>
                      </a:r>
                    </a:p>
                  </a:txBody>
                  <a:tcPr marL="130924" marR="130924" marT="60426" marB="6042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>
                          <a:effectLst/>
                        </a:rPr>
                        <a:t>Expected Output</a:t>
                      </a:r>
                    </a:p>
                  </a:txBody>
                  <a:tcPr marL="130924" marR="130924" marT="60426" marB="6042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380999"/>
                  </a:ext>
                </a:extLst>
              </a:tr>
              <a:tr h="739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Valid – same course</a:t>
                      </a:r>
                    </a:p>
                  </a:txBody>
                  <a:tcPr marL="130924" marR="130924" marT="60426" marB="6042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Student A + B: COMP101</a:t>
                      </a:r>
                    </a:p>
                  </a:txBody>
                  <a:tcPr marL="130924" marR="130924" marT="60426" marB="6042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Group formed ✓</a:t>
                      </a:r>
                    </a:p>
                  </a:txBody>
                  <a:tcPr marL="130924" marR="130924" marT="60426" marB="6042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47690"/>
                  </a:ext>
                </a:extLst>
              </a:tr>
              <a:tr h="739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Invalid – different course</a:t>
                      </a:r>
                    </a:p>
                  </a:txBody>
                  <a:tcPr marL="130924" marR="130924" marT="60426" marB="6042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A: COMP101, B: MATH201</a:t>
                      </a:r>
                    </a:p>
                  </a:txBody>
                  <a:tcPr marL="130924" marR="130924" marT="60426" marB="6042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No match ✓</a:t>
                      </a:r>
                    </a:p>
                  </a:txBody>
                  <a:tcPr marL="130924" marR="130924" marT="60426" marB="6042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637608"/>
                  </a:ext>
                </a:extLst>
              </a:tr>
              <a:tr h="739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Invalid – no course</a:t>
                      </a:r>
                    </a:p>
                  </a:txBody>
                  <a:tcPr marL="130924" marR="130924" marT="60426" marB="6042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A: (none)</a:t>
                      </a:r>
                    </a:p>
                  </a:txBody>
                  <a:tcPr marL="130924" marR="130924" marT="60426" marB="6042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effectLst/>
                        </a:rPr>
                        <a:t>Validation error ✓</a:t>
                      </a:r>
                    </a:p>
                  </a:txBody>
                  <a:tcPr marL="130924" marR="130924" marT="60426" marB="6042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1415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354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3019F5-60EE-3F94-1B54-1CFF50D55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Black Box – Equivalence Partitioning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8">
            <a:extLst>
              <a:ext uri="{FF2B5EF4-FFF2-40B4-BE49-F238E27FC236}">
                <a16:creationId xmlns:a16="http://schemas.microsoft.com/office/drawing/2014/main" id="{BECB2994-0F62-CDFE-1456-34F6666A6CCE}"/>
              </a:ext>
            </a:extLst>
          </p:cNvPr>
          <p:cNvSpPr txBox="1"/>
          <p:nvPr/>
        </p:nvSpPr>
        <p:spPr>
          <a:xfrm>
            <a:off x="7200900" y="3633551"/>
            <a:ext cx="4191001" cy="975880"/>
          </a:xfrm>
          <a:prstGeom prst="rect">
            <a:avLst/>
          </a:prstGeom>
        </p:spPr>
        <p:txBody>
          <a:bodyPr rot="0" spcFirstLastPara="0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/>
              <a:t>Example — Group Size: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D26CA96-BCA9-EC32-4C9B-76B8791458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6171233"/>
              </p:ext>
            </p:extLst>
          </p:nvPr>
        </p:nvGraphicFramePr>
        <p:xfrm>
          <a:off x="800100" y="2713169"/>
          <a:ext cx="6072190" cy="245216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79668">
                  <a:extLst>
                    <a:ext uri="{9D8B030D-6E8A-4147-A177-3AD203B41FA5}">
                      <a16:colId xmlns:a16="http://schemas.microsoft.com/office/drawing/2014/main" val="660071931"/>
                    </a:ext>
                  </a:extLst>
                </a:gridCol>
                <a:gridCol w="1118189">
                  <a:extLst>
                    <a:ext uri="{9D8B030D-6E8A-4147-A177-3AD203B41FA5}">
                      <a16:colId xmlns:a16="http://schemas.microsoft.com/office/drawing/2014/main" val="4252507140"/>
                    </a:ext>
                  </a:extLst>
                </a:gridCol>
                <a:gridCol w="2033364">
                  <a:extLst>
                    <a:ext uri="{9D8B030D-6E8A-4147-A177-3AD203B41FA5}">
                      <a16:colId xmlns:a16="http://schemas.microsoft.com/office/drawing/2014/main" val="1160841642"/>
                    </a:ext>
                  </a:extLst>
                </a:gridCol>
                <a:gridCol w="1540969">
                  <a:extLst>
                    <a:ext uri="{9D8B030D-6E8A-4147-A177-3AD203B41FA5}">
                      <a16:colId xmlns:a16="http://schemas.microsoft.com/office/drawing/2014/main" val="411135225"/>
                    </a:ext>
                  </a:extLst>
                </a:gridCol>
              </a:tblGrid>
              <a:tr h="463625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alisto MT" panose="02040603050505030304" pitchFamily="18" charset="0"/>
                        </a:rPr>
                        <a:t>Partition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144" marR="136144" marT="62836" marB="6283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alisto MT" panose="02040603050505030304" pitchFamily="18" charset="0"/>
                        </a:rPr>
                        <a:t>Range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144" marR="136144" marT="62836" marB="6283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alisto MT" panose="02040603050505030304" pitchFamily="18" charset="0"/>
                        </a:rPr>
                        <a:t>Representative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144" marR="136144" marT="62836" marB="6283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alisto MT" panose="02040603050505030304" pitchFamily="18" charset="0"/>
                        </a:rPr>
                        <a:t>Expected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144" marR="136144" marT="62836" marB="6283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2432831"/>
                  </a:ext>
                </a:extLst>
              </a:tr>
              <a:tr h="463625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alisto MT" panose="02040603050505030304" pitchFamily="18" charset="0"/>
                        </a:rPr>
                        <a:t>Too few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144" marR="136144" marT="62836" marB="6283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alisto MT" panose="02040603050505030304" pitchFamily="18" charset="0"/>
                        </a:rPr>
                        <a:t>0–1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144" marR="136144" marT="62836" marB="6283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alisto MT" panose="02040603050505030304" pitchFamily="18" charset="0"/>
                        </a:rPr>
                        <a:t>1 student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144" marR="136144" marT="62836" marB="6283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alisto MT" panose="02040603050505030304" pitchFamily="18" charset="0"/>
                        </a:rPr>
                        <a:t>Waitlisted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144" marR="136144" marT="62836" marB="6283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1468902"/>
                  </a:ext>
                </a:extLst>
              </a:tr>
              <a:tr h="762458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alisto MT" panose="02040603050505030304" pitchFamily="18" charset="0"/>
                        </a:rPr>
                        <a:t>Valid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144" marR="136144" marT="62836" marB="6283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alisto MT" panose="02040603050505030304" pitchFamily="18" charset="0"/>
                        </a:rPr>
                        <a:t>2–5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144" marR="136144" marT="62836" marB="6283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alisto MT" panose="02040603050505030304" pitchFamily="18" charset="0"/>
                        </a:rPr>
                        <a:t>3 students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144" marR="136144" marT="62836" marB="6283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alisto MT" panose="02040603050505030304" pitchFamily="18" charset="0"/>
                        </a:rPr>
                        <a:t>Group formed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144" marR="136144" marT="62836" marB="6283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082214"/>
                  </a:ext>
                </a:extLst>
              </a:tr>
              <a:tr h="762458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alisto MT" panose="02040603050505030304" pitchFamily="18" charset="0"/>
                        </a:rPr>
                        <a:t>Too many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144" marR="136144" marT="62836" marB="6283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alisto MT" panose="02040603050505030304" pitchFamily="18" charset="0"/>
                        </a:rPr>
                        <a:t>&gt; 5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144" marR="136144" marT="62836" marB="6283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alisto MT" panose="02040603050505030304" pitchFamily="18" charset="0"/>
                        </a:rPr>
                        <a:t>7 students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144" marR="136144" marT="62836" marB="6283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2000" b="0" i="0">
                          <a:solidFill>
                            <a:srgbClr val="000000"/>
                          </a:solidFill>
                          <a:effectLst/>
                          <a:latin typeface="Calisto MT" panose="02040603050505030304" pitchFamily="18" charset="0"/>
                        </a:rPr>
                        <a:t>Split / waitlist</a:t>
                      </a:r>
                      <a:endParaRPr lang="en-US" sz="2000" b="0" i="0">
                        <a:solidFill>
                          <a:srgbClr val="0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136144" marR="136144" marT="62836" marB="6283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013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7396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318CB9-029D-F305-1532-B76BB5A20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Black Box – Boundary Value Analysis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6D6055F-4F3C-9301-D7DF-BD185B700EFA}"/>
              </a:ext>
            </a:extLst>
          </p:cNvPr>
          <p:cNvSpPr txBox="1"/>
          <p:nvPr/>
        </p:nvSpPr>
        <p:spPr>
          <a:xfrm>
            <a:off x="7200900" y="3426037"/>
            <a:ext cx="4201584" cy="134562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/>
              <a:t>Group Size Boundaries (GROUP_SIZE_MIN = 2, MAX = 5):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6ADF348-2F8C-93EE-FC57-C409286F1E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7339775"/>
              </p:ext>
            </p:extLst>
          </p:nvPr>
        </p:nvGraphicFramePr>
        <p:xfrm>
          <a:off x="800100" y="2147266"/>
          <a:ext cx="6072190" cy="358397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48013">
                  <a:extLst>
                    <a:ext uri="{9D8B030D-6E8A-4147-A177-3AD203B41FA5}">
                      <a16:colId xmlns:a16="http://schemas.microsoft.com/office/drawing/2014/main" val="833230661"/>
                    </a:ext>
                  </a:extLst>
                </a:gridCol>
                <a:gridCol w="1469246">
                  <a:extLst>
                    <a:ext uri="{9D8B030D-6E8A-4147-A177-3AD203B41FA5}">
                      <a16:colId xmlns:a16="http://schemas.microsoft.com/office/drawing/2014/main" val="768818181"/>
                    </a:ext>
                  </a:extLst>
                </a:gridCol>
                <a:gridCol w="1742534">
                  <a:extLst>
                    <a:ext uri="{9D8B030D-6E8A-4147-A177-3AD203B41FA5}">
                      <a16:colId xmlns:a16="http://schemas.microsoft.com/office/drawing/2014/main" val="3230975136"/>
                    </a:ext>
                  </a:extLst>
                </a:gridCol>
                <a:gridCol w="1612397">
                  <a:extLst>
                    <a:ext uri="{9D8B030D-6E8A-4147-A177-3AD203B41FA5}">
                      <a16:colId xmlns:a16="http://schemas.microsoft.com/office/drawing/2014/main" val="1255123162"/>
                    </a:ext>
                  </a:extLst>
                </a:gridCol>
              </a:tblGrid>
              <a:tr h="716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Test ID</a:t>
                      </a:r>
                    </a:p>
                  </a:txBody>
                  <a:tcPr marL="126883" marR="126883" marT="58562" marB="58562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Input</a:t>
                      </a:r>
                    </a:p>
                  </a:txBody>
                  <a:tcPr marL="126883" marR="126883" marT="58562" marB="58562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Boundary Position</a:t>
                      </a:r>
                    </a:p>
                  </a:txBody>
                  <a:tcPr marL="126883" marR="126883" marT="58562" marB="58562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Expected</a:t>
                      </a:r>
                    </a:p>
                  </a:txBody>
                  <a:tcPr marL="126883" marR="126883" marT="58562" marB="58562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3198624"/>
                  </a:ext>
                </a:extLst>
              </a:tr>
              <a:tr h="716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BVA-G2</a:t>
                      </a:r>
                    </a:p>
                  </a:txBody>
                  <a:tcPr marL="126883" marR="126883" marT="58562" marB="58562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1 student</a:t>
                      </a:r>
                    </a:p>
                  </a:txBody>
                  <a:tcPr marL="126883" marR="126883" marT="58562" marB="58562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Just below min</a:t>
                      </a:r>
                    </a:p>
                  </a:txBody>
                  <a:tcPr marL="126883" marR="126883" marT="58562" marB="58562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Waitlisted</a:t>
                      </a:r>
                    </a:p>
                  </a:txBody>
                  <a:tcPr marL="126883" marR="126883" marT="58562" marB="58562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5884979"/>
                  </a:ext>
                </a:extLst>
              </a:tr>
              <a:tr h="716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BVA-G3</a:t>
                      </a:r>
                    </a:p>
                  </a:txBody>
                  <a:tcPr marL="126883" marR="126883" marT="58562" marB="58562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2 students</a:t>
                      </a:r>
                      <a:endParaRPr lang="en-US" sz="1800">
                        <a:effectLst/>
                      </a:endParaRPr>
                    </a:p>
                  </a:txBody>
                  <a:tcPr marL="126883" marR="126883" marT="58562" marB="58562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At minimum</a:t>
                      </a:r>
                      <a:endParaRPr lang="en-US" sz="1800">
                        <a:effectLst/>
                      </a:endParaRPr>
                    </a:p>
                  </a:txBody>
                  <a:tcPr marL="126883" marR="126883" marT="58562" marB="58562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Group formed</a:t>
                      </a:r>
                    </a:p>
                  </a:txBody>
                  <a:tcPr marL="126883" marR="126883" marT="58562" marB="58562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584854"/>
                  </a:ext>
                </a:extLst>
              </a:tr>
              <a:tr h="716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BVA-G5</a:t>
                      </a:r>
                    </a:p>
                  </a:txBody>
                  <a:tcPr marL="126883" marR="126883" marT="58562" marB="58562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5 students</a:t>
                      </a:r>
                      <a:endParaRPr lang="en-US" sz="1800">
                        <a:effectLst/>
                      </a:endParaRPr>
                    </a:p>
                  </a:txBody>
                  <a:tcPr marL="126883" marR="126883" marT="58562" marB="58562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At maximum</a:t>
                      </a:r>
                      <a:endParaRPr lang="en-US" sz="1800">
                        <a:effectLst/>
                      </a:endParaRPr>
                    </a:p>
                  </a:txBody>
                  <a:tcPr marL="126883" marR="126883" marT="58562" marB="58562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Group formed</a:t>
                      </a:r>
                    </a:p>
                  </a:txBody>
                  <a:tcPr marL="126883" marR="126883" marT="58562" marB="58562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466908"/>
                  </a:ext>
                </a:extLst>
              </a:tr>
              <a:tr h="7167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BVA-G6</a:t>
                      </a:r>
                    </a:p>
                  </a:txBody>
                  <a:tcPr marL="126883" marR="126883" marT="58562" marB="58562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6 students</a:t>
                      </a:r>
                    </a:p>
                  </a:txBody>
                  <a:tcPr marL="126883" marR="126883" marT="58562" marB="58562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Just above max</a:t>
                      </a:r>
                    </a:p>
                  </a:txBody>
                  <a:tcPr marL="126883" marR="126883" marT="58562" marB="58562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Split/waitlist</a:t>
                      </a:r>
                    </a:p>
                  </a:txBody>
                  <a:tcPr marL="126883" marR="126883" marT="58562" marB="58562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8979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1251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EBF42-99A1-B323-EE03-15E8DF721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BB402E-DC42-06C6-CE2B-F926149A6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Black Box – Boundary Value Analysis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8465F35-23F7-EC1C-DCAE-BC02B27965C1}"/>
              </a:ext>
            </a:extLst>
          </p:cNvPr>
          <p:cNvSpPr txBox="1"/>
          <p:nvPr/>
        </p:nvSpPr>
        <p:spPr>
          <a:xfrm>
            <a:off x="7200900" y="3426037"/>
            <a:ext cx="4201584" cy="95404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/>
              <a:t>Odd Student Boundaries: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0D2122B-FACE-0559-9B33-E53829636E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415137"/>
              </p:ext>
            </p:extLst>
          </p:nvPr>
        </p:nvGraphicFramePr>
        <p:xfrm>
          <a:off x="800100" y="2052068"/>
          <a:ext cx="6072190" cy="377437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21467">
                  <a:extLst>
                    <a:ext uri="{9D8B030D-6E8A-4147-A177-3AD203B41FA5}">
                      <a16:colId xmlns:a16="http://schemas.microsoft.com/office/drawing/2014/main" val="1715836428"/>
                    </a:ext>
                  </a:extLst>
                </a:gridCol>
                <a:gridCol w="1859454">
                  <a:extLst>
                    <a:ext uri="{9D8B030D-6E8A-4147-A177-3AD203B41FA5}">
                      <a16:colId xmlns:a16="http://schemas.microsoft.com/office/drawing/2014/main" val="1249059413"/>
                    </a:ext>
                  </a:extLst>
                </a:gridCol>
                <a:gridCol w="2391269">
                  <a:extLst>
                    <a:ext uri="{9D8B030D-6E8A-4147-A177-3AD203B41FA5}">
                      <a16:colId xmlns:a16="http://schemas.microsoft.com/office/drawing/2014/main" val="273173241"/>
                    </a:ext>
                  </a:extLst>
                </a:gridCol>
              </a:tblGrid>
              <a:tr h="6358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1">
                          <a:solidFill>
                            <a:schemeClr val="tx1"/>
                          </a:solidFill>
                          <a:effectLst/>
                        </a:rPr>
                        <a:t>Test ID</a:t>
                      </a:r>
                    </a:p>
                  </a:txBody>
                  <a:tcPr marL="185186" marR="185186" marT="85470" marB="85470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1">
                          <a:solidFill>
                            <a:schemeClr val="tx1"/>
                          </a:solidFill>
                          <a:effectLst/>
                        </a:rPr>
                        <a:t>Input</a:t>
                      </a:r>
                    </a:p>
                  </a:txBody>
                  <a:tcPr marL="185186" marR="185186" marT="85470" marB="85470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 b="1">
                          <a:solidFill>
                            <a:schemeClr val="tx1"/>
                          </a:solidFill>
                          <a:effectLst/>
                        </a:rPr>
                        <a:t>Expected</a:t>
                      </a:r>
                    </a:p>
                  </a:txBody>
                  <a:tcPr marL="185186" marR="185186" marT="85470" marB="85470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0646475"/>
                  </a:ext>
                </a:extLst>
              </a:tr>
              <a:tr h="1046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solidFill>
                            <a:schemeClr val="tx1"/>
                          </a:solidFill>
                          <a:effectLst/>
                        </a:rPr>
                        <a:t>BVA-O2</a:t>
                      </a:r>
                    </a:p>
                  </a:txBody>
                  <a:tcPr marL="185186" marR="185186" marT="85470" marB="85470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solidFill>
                            <a:schemeClr val="tx1"/>
                          </a:solidFill>
                          <a:effectLst/>
                        </a:rPr>
                        <a:t>2 students</a:t>
                      </a:r>
                    </a:p>
                  </a:txBody>
                  <a:tcPr marL="185186" marR="185186" marT="85470" marB="85470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solidFill>
                            <a:schemeClr val="tx1"/>
                          </a:solidFill>
                          <a:effectLst/>
                        </a:rPr>
                        <a:t>1 group of 2</a:t>
                      </a:r>
                    </a:p>
                  </a:txBody>
                  <a:tcPr marL="185186" marR="185186" marT="85470" marB="85470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664566"/>
                  </a:ext>
                </a:extLst>
              </a:tr>
              <a:tr h="1046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solidFill>
                            <a:schemeClr val="tx1"/>
                          </a:solidFill>
                          <a:effectLst/>
                        </a:rPr>
                        <a:t>BVA-O3</a:t>
                      </a:r>
                    </a:p>
                  </a:txBody>
                  <a:tcPr marL="185186" marR="185186" marT="85470" marB="85470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solidFill>
                            <a:schemeClr val="tx1"/>
                          </a:solidFill>
                          <a:effectLst/>
                        </a:rPr>
                        <a:t>3 students</a:t>
                      </a:r>
                    </a:p>
                  </a:txBody>
                  <a:tcPr marL="185186" marR="185186" marT="85470" marB="85470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solidFill>
                            <a:schemeClr val="tx1"/>
                          </a:solidFill>
                          <a:effectLst/>
                        </a:rPr>
                        <a:t>1 group + 1 waitlisted</a:t>
                      </a:r>
                    </a:p>
                  </a:txBody>
                  <a:tcPr marL="185186" marR="185186" marT="85470" marB="85470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0767585"/>
                  </a:ext>
                </a:extLst>
              </a:tr>
              <a:tr h="10461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solidFill>
                            <a:schemeClr val="tx1"/>
                          </a:solidFill>
                          <a:effectLst/>
                        </a:rPr>
                        <a:t>BVA-O4</a:t>
                      </a:r>
                    </a:p>
                  </a:txBody>
                  <a:tcPr marL="185186" marR="185186" marT="85470" marB="85470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solidFill>
                            <a:schemeClr val="tx1"/>
                          </a:solidFill>
                          <a:effectLst/>
                        </a:rPr>
                        <a:t>5 students</a:t>
                      </a:r>
                    </a:p>
                  </a:txBody>
                  <a:tcPr marL="185186" marR="185186" marT="85470" marB="85470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700">
                          <a:solidFill>
                            <a:schemeClr val="tx1"/>
                          </a:solidFill>
                          <a:effectLst/>
                        </a:rPr>
                        <a:t>2 groups, 0 waitlisted</a:t>
                      </a:r>
                    </a:p>
                  </a:txBody>
                  <a:tcPr marL="185186" marR="185186" marT="85470" marB="85470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924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97629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D345F-CEDF-DCCC-2F84-1E5479404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001512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ea typeface="+mj-lt"/>
                <a:cs typeface="+mj-lt"/>
              </a:rPr>
              <a:t>White Box – Control Flow Graph</a:t>
            </a:r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583FD9E-C5A7-96F7-951D-7D292013C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2376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ontent Placeholder 18">
            <a:extLst>
              <a:ext uri="{FF2B5EF4-FFF2-40B4-BE49-F238E27FC236}">
                <a16:creationId xmlns:a16="http://schemas.microsoft.com/office/drawing/2014/main" id="{CE41C71A-5F6E-86CF-C72A-3C1B53FED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31136"/>
            <a:ext cx="6001512" cy="3931920"/>
          </a:xfrm>
        </p:spPr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5" name="Content Placeholder 4" descr="A diagram of a program&#10;&#10;AI-generated content may be incorrect.">
            <a:extLst>
              <a:ext uri="{FF2B5EF4-FFF2-40B4-BE49-F238E27FC236}">
                <a16:creationId xmlns:a16="http://schemas.microsoft.com/office/drawing/2014/main" id="{B8995451-A1D0-C2BE-FCF2-3B3CB3A38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7968" y="530437"/>
            <a:ext cx="4333990" cy="5634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653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258C6-103A-8474-2E81-129456A10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White Box – Branch Coverage (Level 2)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C037D98-2D1F-FF81-F844-7954F2C74031}"/>
              </a:ext>
            </a:extLst>
          </p:cNvPr>
          <p:cNvSpPr txBox="1"/>
          <p:nvPr/>
        </p:nvSpPr>
        <p:spPr>
          <a:xfrm>
            <a:off x="7200900" y="3584787"/>
            <a:ext cx="4201584" cy="104929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/>
              <a:t>Content: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00832BC-50FB-5C8D-2777-F78DE2553B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8507510"/>
              </p:ext>
            </p:extLst>
          </p:nvPr>
        </p:nvGraphicFramePr>
        <p:xfrm>
          <a:off x="800100" y="2157196"/>
          <a:ext cx="6072190" cy="356411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33472">
                  <a:extLst>
                    <a:ext uri="{9D8B030D-6E8A-4147-A177-3AD203B41FA5}">
                      <a16:colId xmlns:a16="http://schemas.microsoft.com/office/drawing/2014/main" val="1275228421"/>
                    </a:ext>
                  </a:extLst>
                </a:gridCol>
                <a:gridCol w="1888177">
                  <a:extLst>
                    <a:ext uri="{9D8B030D-6E8A-4147-A177-3AD203B41FA5}">
                      <a16:colId xmlns:a16="http://schemas.microsoft.com/office/drawing/2014/main" val="327276837"/>
                    </a:ext>
                  </a:extLst>
                </a:gridCol>
                <a:gridCol w="2250541">
                  <a:extLst>
                    <a:ext uri="{9D8B030D-6E8A-4147-A177-3AD203B41FA5}">
                      <a16:colId xmlns:a16="http://schemas.microsoft.com/office/drawing/2014/main" val="2229447042"/>
                    </a:ext>
                  </a:extLst>
                </a:gridCol>
              </a:tblGrid>
              <a:tr h="712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Decision</a:t>
                      </a:r>
                    </a:p>
                  </a:txBody>
                  <a:tcPr marL="126180" marR="126180" marT="58237" marB="58237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True Branch Test</a:t>
                      </a:r>
                    </a:p>
                  </a:txBody>
                  <a:tcPr marL="126180" marR="126180" marT="58237" marB="58237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>
                          <a:effectLst/>
                        </a:rPr>
                        <a:t>False Branch Test</a:t>
                      </a:r>
                    </a:p>
                  </a:txBody>
                  <a:tcPr marL="126180" marR="126180" marT="58237" marB="58237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938103"/>
                  </a:ext>
                </a:extLst>
              </a:tr>
              <a:tr h="712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D1: course match</a:t>
                      </a:r>
                    </a:p>
                  </a:txBody>
                  <a:tcPr marL="126180" marR="126180" marT="58237" marB="58237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A enrolled in COMP101 ✓</a:t>
                      </a:r>
                    </a:p>
                  </a:txBody>
                  <a:tcPr marL="126180" marR="126180" marT="58237" marB="58237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A enrolled in MATH201 ✓</a:t>
                      </a:r>
                    </a:p>
                  </a:txBody>
                  <a:tcPr marL="126180" marR="126180" marT="58237" marB="58237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5540600"/>
                  </a:ext>
                </a:extLst>
              </a:tr>
              <a:tr h="712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D2: no conflict</a:t>
                      </a:r>
                    </a:p>
                  </a:txBody>
                  <a:tcPr marL="126180" marR="126180" marT="58237" marB="58237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A free at MON-09:00 ✓</a:t>
                      </a:r>
                    </a:p>
                  </a:txBody>
                  <a:tcPr marL="126180" marR="126180" marT="58237" marB="58237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A already in MON-09:00 group ✓</a:t>
                      </a:r>
                    </a:p>
                  </a:txBody>
                  <a:tcPr marL="126180" marR="126180" marT="58237" marB="58237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1103741"/>
                  </a:ext>
                </a:extLst>
              </a:tr>
              <a:tr h="712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D3: eligible &lt; 2</a:t>
                      </a:r>
                    </a:p>
                  </a:txBody>
                  <a:tcPr marL="126180" marR="126180" marT="58237" marB="58237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Only 1 eligible student ✓</a:t>
                      </a:r>
                    </a:p>
                  </a:txBody>
                  <a:tcPr marL="126180" marR="126180" marT="58237" marB="58237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3 eligible students ✓</a:t>
                      </a:r>
                    </a:p>
                  </a:txBody>
                  <a:tcPr marL="126180" marR="126180" marT="58237" marB="58237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2729497"/>
                  </a:ext>
                </a:extLst>
              </a:tr>
              <a:tr h="7128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D4: slot match</a:t>
                      </a:r>
                    </a:p>
                  </a:txBody>
                  <a:tcPr marL="126180" marR="126180" marT="58237" marB="58237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Group slot = proposed ✓</a:t>
                      </a:r>
                    </a:p>
                  </a:txBody>
                  <a:tcPr marL="126180" marR="126180" marT="58237" marB="58237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>
                          <a:effectLst/>
                        </a:rPr>
                        <a:t>Group slot ≠ proposed ✓</a:t>
                      </a:r>
                    </a:p>
                  </a:txBody>
                  <a:tcPr marL="126180" marR="126180" marT="58237" marB="58237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3428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9624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D87D93-8305-2405-7373-D1CB88BF9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F66ABC-F1FF-13DF-848A-CE1D3749C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White Box – Branch Coverage (Level 2)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26A04E-C737-5C16-C64C-C9253EE5D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0" y="3542454"/>
            <a:ext cx="4201584" cy="120804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b="1" i="0"/>
              <a:t>Content:</a:t>
            </a:r>
          </a:p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905E169-4546-6DC9-8DDA-8D31F601DC55}"/>
              </a:ext>
            </a:extLst>
          </p:cNvPr>
          <p:cNvGraphicFramePr>
            <a:graphicFrameLocks noGrp="1"/>
          </p:cNvGraphicFramePr>
          <p:nvPr/>
        </p:nvGraphicFramePr>
        <p:xfrm>
          <a:off x="800100" y="2730956"/>
          <a:ext cx="6072190" cy="241659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44186">
                  <a:extLst>
                    <a:ext uri="{9D8B030D-6E8A-4147-A177-3AD203B41FA5}">
                      <a16:colId xmlns:a16="http://schemas.microsoft.com/office/drawing/2014/main" val="4143529799"/>
                    </a:ext>
                  </a:extLst>
                </a:gridCol>
                <a:gridCol w="1424815">
                  <a:extLst>
                    <a:ext uri="{9D8B030D-6E8A-4147-A177-3AD203B41FA5}">
                      <a16:colId xmlns:a16="http://schemas.microsoft.com/office/drawing/2014/main" val="2732787555"/>
                    </a:ext>
                  </a:extLst>
                </a:gridCol>
                <a:gridCol w="1655154">
                  <a:extLst>
                    <a:ext uri="{9D8B030D-6E8A-4147-A177-3AD203B41FA5}">
                      <a16:colId xmlns:a16="http://schemas.microsoft.com/office/drawing/2014/main" val="3192846702"/>
                    </a:ext>
                  </a:extLst>
                </a:gridCol>
                <a:gridCol w="1348035">
                  <a:extLst>
                    <a:ext uri="{9D8B030D-6E8A-4147-A177-3AD203B41FA5}">
                      <a16:colId xmlns:a16="http://schemas.microsoft.com/office/drawing/2014/main" val="3816350763"/>
                    </a:ext>
                  </a:extLst>
                </a:gridCol>
              </a:tblGrid>
              <a:tr h="3672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Loop</a:t>
                      </a:r>
                    </a:p>
                  </a:txBody>
                  <a:tcPr marL="106943" marR="106943" marT="49358" marB="49358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0 iterations</a:t>
                      </a:r>
                    </a:p>
                  </a:txBody>
                  <a:tcPr marL="106943" marR="106943" marT="49358" marB="49358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1 iteration</a:t>
                      </a:r>
                    </a:p>
                  </a:txBody>
                  <a:tcPr marL="106943" marR="106943" marT="49358" marB="49358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Multiple</a:t>
                      </a:r>
                    </a:p>
                  </a:txBody>
                  <a:tcPr marL="106943" marR="106943" marT="49358" marB="49358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477196"/>
                  </a:ext>
                </a:extLst>
              </a:tr>
              <a:tr h="604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Loop A (students)</a:t>
                      </a:r>
                    </a:p>
                  </a:txBody>
                  <a:tcPr marL="106943" marR="106943" marT="49358" marB="49358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Empty list ✓</a:t>
                      </a:r>
                    </a:p>
                  </a:txBody>
                  <a:tcPr marL="106943" marR="106943" marT="49358" marB="49358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1 student ✓</a:t>
                      </a:r>
                    </a:p>
                  </a:txBody>
                  <a:tcPr marL="106943" marR="106943" marT="49358" marB="49358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5 students ✓</a:t>
                      </a:r>
                    </a:p>
                  </a:txBody>
                  <a:tcPr marL="106943" marR="106943" marT="49358" marB="49358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0040044"/>
                  </a:ext>
                </a:extLst>
              </a:tr>
              <a:tr h="841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Loop B (group formation)</a:t>
                      </a:r>
                    </a:p>
                  </a:txBody>
                  <a:tcPr marL="106943" marR="106943" marT="49358" marB="49358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Caught by D3</a:t>
                      </a:r>
                    </a:p>
                  </a:txBody>
                  <a:tcPr marL="106943" marR="106943" marT="49358" marB="49358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2 students → 1 group ✓</a:t>
                      </a:r>
                    </a:p>
                  </a:txBody>
                  <a:tcPr marL="106943" marR="106943" marT="49358" marB="49358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6 students → 3 groups ✓</a:t>
                      </a:r>
                    </a:p>
                  </a:txBody>
                  <a:tcPr marL="106943" marR="106943" marT="49358" marB="49358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515705"/>
                  </a:ext>
                </a:extLst>
              </a:tr>
              <a:tr h="6041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Loop C (conflict check)</a:t>
                      </a:r>
                    </a:p>
                  </a:txBody>
                  <a:tcPr marL="106943" marR="106943" marT="49358" marB="49358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No assigned groups ✓</a:t>
                      </a:r>
                    </a:p>
                  </a:txBody>
                  <a:tcPr marL="106943" marR="106943" marT="49358" marB="49358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1 group ✓</a:t>
                      </a:r>
                    </a:p>
                  </a:txBody>
                  <a:tcPr marL="106943" marR="106943" marT="49358" marB="49358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3 groups ✓</a:t>
                      </a:r>
                    </a:p>
                  </a:txBody>
                  <a:tcPr marL="106943" marR="106943" marT="49358" marB="49358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8016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6759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53AECF-234C-2061-DF39-E005F7EF1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6151083" cy="130759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>
                <a:ea typeface="+mj-lt"/>
                <a:cs typeface="+mj-lt"/>
              </a:rPr>
              <a:t>White Box – Data Flow Analysis (</a:t>
            </a:r>
            <a:r>
              <a:rPr lang="en-US" sz="3100">
                <a:latin typeface="Consolas"/>
              </a:rPr>
              <a:t>eligible</a:t>
            </a:r>
            <a:r>
              <a:rPr lang="en-US" sz="3100">
                <a:ea typeface="+mj-lt"/>
                <a:cs typeface="+mj-lt"/>
              </a:rPr>
              <a:t> variable)</a:t>
            </a:r>
            <a:endParaRPr lang="en-US" sz="31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ontent Placeholder 7">
            <a:extLst>
              <a:ext uri="{FF2B5EF4-FFF2-40B4-BE49-F238E27FC236}">
                <a16:creationId xmlns:a16="http://schemas.microsoft.com/office/drawing/2014/main" id="{F04C2B69-08CE-76C7-CE3A-C93C39E14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8" y="2219183"/>
            <a:ext cx="6151083" cy="3753812"/>
          </a:xfrm>
        </p:spPr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4" name="Content Placeholder 3" descr="A diagram of a flowchart&#10;&#10;AI-generated content may be incorrect.">
            <a:extLst>
              <a:ext uri="{FF2B5EF4-FFF2-40B4-BE49-F238E27FC236}">
                <a16:creationId xmlns:a16="http://schemas.microsoft.com/office/drawing/2014/main" id="{C75F97FD-DE70-D942-C698-5913B67641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457" b="1"/>
          <a:stretch>
            <a:fillRect/>
          </a:stretch>
        </p:blipFill>
        <p:spPr>
          <a:xfrm>
            <a:off x="7306236" y="902448"/>
            <a:ext cx="4085664" cy="5053104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5092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0AC032-D737-1F35-006D-62830CCE4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149790-94B5-36A0-F0CC-0EA3B2341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687812" cy="79819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White Box – Data Flow Analysis (eligible variable)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4672" y="723900"/>
            <a:ext cx="1058875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6E2081C-9DC9-03F2-18FD-9BB222DB222B}"/>
              </a:ext>
            </a:extLst>
          </p:cNvPr>
          <p:cNvSpPr txBox="1"/>
          <p:nvPr/>
        </p:nvSpPr>
        <p:spPr>
          <a:xfrm>
            <a:off x="7200900" y="3553037"/>
            <a:ext cx="4201584" cy="98579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i="0"/>
              <a:t>Abnormal pairs checked: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E0104E4-99BC-494F-8342-F250828E5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9065" y="6145599"/>
            <a:ext cx="1058283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1C76314-BA44-2C0C-1C78-ECDC3D2981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8560575"/>
              </p:ext>
            </p:extLst>
          </p:nvPr>
        </p:nvGraphicFramePr>
        <p:xfrm>
          <a:off x="800100" y="2309225"/>
          <a:ext cx="6072189" cy="326005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04572">
                  <a:extLst>
                    <a:ext uri="{9D8B030D-6E8A-4147-A177-3AD203B41FA5}">
                      <a16:colId xmlns:a16="http://schemas.microsoft.com/office/drawing/2014/main" val="1919212211"/>
                    </a:ext>
                  </a:extLst>
                </a:gridCol>
                <a:gridCol w="1867617">
                  <a:extLst>
                    <a:ext uri="{9D8B030D-6E8A-4147-A177-3AD203B41FA5}">
                      <a16:colId xmlns:a16="http://schemas.microsoft.com/office/drawing/2014/main" val="94964830"/>
                    </a:ext>
                  </a:extLst>
                </a:gridCol>
              </a:tblGrid>
              <a:tr h="652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effectLst/>
                        </a:rPr>
                        <a:t>Abnormal Pair</a:t>
                      </a:r>
                    </a:p>
                  </a:txBody>
                  <a:tcPr marL="189878" marR="189878" marT="87636" marB="8763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>
                          <a:effectLst/>
                        </a:rPr>
                        <a:t>Found?</a:t>
                      </a:r>
                    </a:p>
                  </a:txBody>
                  <a:tcPr marL="189878" marR="189878" marT="87636" marB="8763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0342418"/>
                  </a:ext>
                </a:extLst>
              </a:tr>
              <a:tr h="652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Use before definition</a:t>
                      </a:r>
                    </a:p>
                  </a:txBody>
                  <a:tcPr marL="189878" marR="189878" marT="87636" marB="8763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No ✗</a:t>
                      </a:r>
                    </a:p>
                  </a:txBody>
                  <a:tcPr marL="189878" marR="189878" marT="87636" marB="8763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670080"/>
                  </a:ext>
                </a:extLst>
              </a:tr>
              <a:tr h="652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Overwrite before use</a:t>
                      </a:r>
                    </a:p>
                  </a:txBody>
                  <a:tcPr marL="189878" marR="189878" marT="87636" marB="8763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No ✗</a:t>
                      </a:r>
                    </a:p>
                  </a:txBody>
                  <a:tcPr marL="189878" marR="189878" marT="87636" marB="8763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238089"/>
                  </a:ext>
                </a:extLst>
              </a:tr>
              <a:tr h="652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Use after deletion</a:t>
                      </a:r>
                    </a:p>
                  </a:txBody>
                  <a:tcPr marL="189878" marR="189878" marT="87636" marB="8763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No ✗</a:t>
                      </a:r>
                    </a:p>
                  </a:txBody>
                  <a:tcPr marL="189878" marR="189878" marT="87636" marB="8763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746486"/>
                  </a:ext>
                </a:extLst>
              </a:tr>
              <a:tr h="652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Defined but never used</a:t>
                      </a:r>
                    </a:p>
                  </a:txBody>
                  <a:tcPr marL="189878" marR="189878" marT="87636" marB="8763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effectLst/>
                        </a:rPr>
                        <a:t>No ✗</a:t>
                      </a:r>
                    </a:p>
                  </a:txBody>
                  <a:tcPr marL="189878" marR="189878" marT="87636" marB="87636" anchor="ctr">
                    <a:lnL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D44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7718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2408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AE9479-A330-207C-C4D6-19C87A850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42 Tests – All Passing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Content Placeholder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9E534F0-598C-AB88-0F65-3B2BB0B231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21919" b="-1"/>
          <a:stretch>
            <a:fillRect/>
          </a:stretch>
        </p:blipFill>
        <p:spPr>
          <a:xfrm>
            <a:off x="800100" y="2357747"/>
            <a:ext cx="10591799" cy="3095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518040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ChronicleVTI</vt:lpstr>
      <vt:lpstr>Smart Study Group Matching System   Software Quality Assurance – SWE3020  Progress Presentation  Group 2</vt:lpstr>
      <vt:lpstr>What We Built</vt:lpstr>
      <vt:lpstr>SQA Quality Objectives (McCall's Model)</vt:lpstr>
      <vt:lpstr>SQA Plan – Six Standards Areas</vt:lpstr>
      <vt:lpstr>SQA Integrated Into the Project Lifecycle</vt:lpstr>
      <vt:lpstr>Two-Track Testing Approach</vt:lpstr>
      <vt:lpstr>Black Box – Equivalence Partitioning</vt:lpstr>
      <vt:lpstr>Black Box – Equivalence Partitioning</vt:lpstr>
      <vt:lpstr>Black Box – Boundary Value Analysis</vt:lpstr>
      <vt:lpstr>Black Box – Boundary Value Analysis</vt:lpstr>
      <vt:lpstr>White Box – Control Flow Graph</vt:lpstr>
      <vt:lpstr>White Box – Branch Coverage (Level 2)</vt:lpstr>
      <vt:lpstr>White Box – Branch Coverage (Level 2)</vt:lpstr>
      <vt:lpstr>White Box – Data Flow Analysis (eligible variable)</vt:lpstr>
      <vt:lpstr>White Box – Data Flow Analysis (eligible variable)</vt:lpstr>
      <vt:lpstr>42 Tests – All Passing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190</cp:revision>
  <dcterms:created xsi:type="dcterms:W3CDTF">2026-03-10T20:54:27Z</dcterms:created>
  <dcterms:modified xsi:type="dcterms:W3CDTF">2026-03-10T21:47:56Z</dcterms:modified>
</cp:coreProperties>
</file>